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69"/>
  </p:notesMasterIdLst>
  <p:sldIdLst>
    <p:sldId id="906" r:id="rId2"/>
    <p:sldId id="918" r:id="rId3"/>
    <p:sldId id="908" r:id="rId4"/>
    <p:sldId id="860" r:id="rId5"/>
    <p:sldId id="885" r:id="rId6"/>
    <p:sldId id="827" r:id="rId7"/>
    <p:sldId id="828" r:id="rId8"/>
    <p:sldId id="829" r:id="rId9"/>
    <p:sldId id="830" r:id="rId10"/>
    <p:sldId id="831" r:id="rId11"/>
    <p:sldId id="832" r:id="rId12"/>
    <p:sldId id="833" r:id="rId13"/>
    <p:sldId id="834" r:id="rId14"/>
    <p:sldId id="835" r:id="rId15"/>
    <p:sldId id="836" r:id="rId16"/>
    <p:sldId id="837" r:id="rId17"/>
    <p:sldId id="859" r:id="rId18"/>
    <p:sldId id="851" r:id="rId19"/>
    <p:sldId id="852" r:id="rId20"/>
    <p:sldId id="853" r:id="rId21"/>
    <p:sldId id="854" r:id="rId22"/>
    <p:sldId id="855" r:id="rId23"/>
    <p:sldId id="856" r:id="rId24"/>
    <p:sldId id="857" r:id="rId25"/>
    <p:sldId id="858" r:id="rId26"/>
    <p:sldId id="862" r:id="rId27"/>
    <p:sldId id="863" r:id="rId28"/>
    <p:sldId id="864" r:id="rId29"/>
    <p:sldId id="865" r:id="rId30"/>
    <p:sldId id="866" r:id="rId31"/>
    <p:sldId id="867" r:id="rId32"/>
    <p:sldId id="868" r:id="rId33"/>
    <p:sldId id="869" r:id="rId34"/>
    <p:sldId id="870" r:id="rId35"/>
    <p:sldId id="882" r:id="rId36"/>
    <p:sldId id="871" r:id="rId37"/>
    <p:sldId id="872" r:id="rId38"/>
    <p:sldId id="873" r:id="rId39"/>
    <p:sldId id="874" r:id="rId40"/>
    <p:sldId id="877" r:id="rId41"/>
    <p:sldId id="879" r:id="rId42"/>
    <p:sldId id="878" r:id="rId43"/>
    <p:sldId id="881" r:id="rId44"/>
    <p:sldId id="880" r:id="rId45"/>
    <p:sldId id="883" r:id="rId46"/>
    <p:sldId id="886" r:id="rId47"/>
    <p:sldId id="887" r:id="rId48"/>
    <p:sldId id="888" r:id="rId49"/>
    <p:sldId id="889" r:id="rId50"/>
    <p:sldId id="890" r:id="rId51"/>
    <p:sldId id="891" r:id="rId52"/>
    <p:sldId id="892" r:id="rId53"/>
    <p:sldId id="893" r:id="rId54"/>
    <p:sldId id="894" r:id="rId55"/>
    <p:sldId id="902" r:id="rId56"/>
    <p:sldId id="895" r:id="rId57"/>
    <p:sldId id="897" r:id="rId58"/>
    <p:sldId id="903" r:id="rId59"/>
    <p:sldId id="898" r:id="rId60"/>
    <p:sldId id="904" r:id="rId61"/>
    <p:sldId id="905" r:id="rId62"/>
    <p:sldId id="899" r:id="rId63"/>
    <p:sldId id="900" r:id="rId64"/>
    <p:sldId id="901" r:id="rId65"/>
    <p:sldId id="915" r:id="rId66"/>
    <p:sldId id="916" r:id="rId67"/>
    <p:sldId id="917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B3B"/>
    <a:srgbClr val="EF8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3" autoAdjust="0"/>
    <p:restoredTop sz="94676" autoAdjust="0"/>
  </p:normalViewPr>
  <p:slideViewPr>
    <p:cSldViewPr>
      <p:cViewPr varScale="1">
        <p:scale>
          <a:sx n="73" d="100"/>
          <a:sy n="73" d="100"/>
        </p:scale>
        <p:origin x="88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e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8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A21D-F609-4883-9BF2-C2257D2F3E1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BF5E-119C-40D0-9F75-E2458688F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20195AE-96F2-4B3C-93B7-A1C176E6B3EC}" type="slidenum">
              <a:rPr lang="el-GR" altLang="zh-TW" smtClean="0">
                <a:latin typeface="Times New Roman" panose="02020603050405020304" pitchFamily="18" charset="0"/>
              </a:rPr>
              <a:pPr/>
              <a:t>1</a:t>
            </a:fld>
            <a:endParaRPr lang="el-GR" altLang="zh-TW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l-GR" altLang="zh-TW"/>
          </a:p>
        </p:txBody>
      </p:sp>
    </p:spTree>
    <p:extLst>
      <p:ext uri="{BB962C8B-B14F-4D97-AF65-F5344CB8AC3E}">
        <p14:creationId xmlns:p14="http://schemas.microsoft.com/office/powerpoint/2010/main" val="8558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 dirty="0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CS-409: </a:t>
            </a:r>
            <a:r>
              <a:rPr lang="el-GR" dirty="0" err="1"/>
              <a:t>Αντικειμενοστρεφής</a:t>
            </a:r>
            <a:r>
              <a:rPr lang="el-GR" dirty="0"/>
              <a:t> </a:t>
            </a:r>
            <a:r>
              <a:rPr lang="el-GR" dirty="0" err="1"/>
              <a:t>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2C3B4-92C9-4193-A1CA-FDE1A82284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67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DD7E345-9BD5-414F-9B98-BE3DCAA5A9BF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l-GR" dirty="0" err="1"/>
              <a:t>Αντικειμενοστρεφής</a:t>
            </a:r>
            <a:r>
              <a:rPr lang="el-GR" dirty="0"/>
              <a:t> Προγραμματισμός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8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2.w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8.png"/><Relationship Id="rId4" Type="http://schemas.openxmlformats.org/officeDocument/2006/relationships/image" Target="../media/image3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0.png"/><Relationship Id="rId4" Type="http://schemas.openxmlformats.org/officeDocument/2006/relationships/image" Target="../media/image38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26.bin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3.emf"/><Relationship Id="rId9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48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9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1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8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2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4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5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470C9E-D8A9-44CA-8ADA-EBCAB357A335}" type="slidenum">
              <a:rPr lang="en-GB" altLang="zh-TW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altLang="zh-TW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4000500"/>
            <a:ext cx="6400800" cy="2857500"/>
          </a:xfrm>
        </p:spPr>
        <p:txBody>
          <a:bodyPr/>
          <a:lstStyle/>
          <a:p>
            <a:pPr algn="r" eaLnBrk="1" hangingPunct="1">
              <a:lnSpc>
                <a:spcPct val="80000"/>
              </a:lnSpc>
            </a:pPr>
            <a:endParaRPr lang="en-US" altLang="zh-TW" sz="1600">
              <a:ea typeface="新細明體" panose="02020500000000000000" pitchFamily="18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b="1">
                <a:ea typeface="新細明體" panose="02020500000000000000" pitchFamily="18" charset="-120"/>
              </a:rPr>
              <a:t>Shyi-Chyi Cheng (</a:t>
            </a:r>
            <a:r>
              <a:rPr lang="zh-TW" altLang="en-US" b="1">
                <a:ea typeface="新細明體" panose="02020500000000000000" pitchFamily="18" charset="-120"/>
              </a:rPr>
              <a:t>鄭錫齊</a:t>
            </a:r>
            <a:r>
              <a:rPr lang="en-US" altLang="zh-TW" b="1">
                <a:ea typeface="新細明體" panose="02020500000000000000" pitchFamily="18" charset="-12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800" b="1">
                <a:ea typeface="新細明體" panose="02020500000000000000" pitchFamily="18" charset="-120"/>
              </a:rPr>
              <a:t>Email:csc@mail.ntou.edu.tw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800" b="1">
                <a:ea typeface="新細明體" panose="02020500000000000000" pitchFamily="18" charset="-120"/>
              </a:rPr>
              <a:t>Tel: 02-24622192-6653</a:t>
            </a:r>
          </a:p>
          <a:p>
            <a:pPr algn="r" eaLnBrk="1" hangingPunct="1">
              <a:lnSpc>
                <a:spcPct val="80000"/>
              </a:lnSpc>
            </a:pPr>
            <a:endParaRPr lang="en-US" altLang="zh-TW" sz="1800" b="1">
              <a:ea typeface="新細明體" panose="02020500000000000000" pitchFamily="18" charset="-120"/>
            </a:endParaRPr>
          </a:p>
          <a:p>
            <a:pPr algn="r" eaLnBrk="1" hangingPunct="1">
              <a:lnSpc>
                <a:spcPct val="80000"/>
              </a:lnSpc>
            </a:pPr>
            <a:endParaRPr lang="en-US" altLang="zh-TW" sz="1600" b="1">
              <a:solidFill>
                <a:schemeClr val="hlink"/>
              </a:solidFill>
              <a:ea typeface="新細明體" panose="02020500000000000000" pitchFamily="18" charset="-120"/>
            </a:endParaRPr>
          </a:p>
          <a:p>
            <a:pPr algn="r" eaLnBrk="1" hangingPunct="1">
              <a:lnSpc>
                <a:spcPct val="80000"/>
              </a:lnSpc>
            </a:pPr>
            <a:endParaRPr lang="en-US" altLang="zh-TW" sz="1600" b="1">
              <a:solidFill>
                <a:schemeClr val="hlink"/>
              </a:solidFill>
              <a:ea typeface="新細明體" panose="02020500000000000000" pitchFamily="18" charset="-120"/>
            </a:endParaRPr>
          </a:p>
          <a:p>
            <a:pPr algn="r" eaLnBrk="1" hangingPunct="1">
              <a:lnSpc>
                <a:spcPct val="80000"/>
              </a:lnSpc>
            </a:pPr>
            <a:endParaRPr lang="en-US" altLang="zh-TW" sz="1600" b="1">
              <a:solidFill>
                <a:schemeClr val="hlink"/>
              </a:solidFill>
              <a:ea typeface="新細明體" panose="02020500000000000000" pitchFamily="18" charset="-120"/>
            </a:endParaRPr>
          </a:p>
          <a:p>
            <a:pPr algn="r" eaLnBrk="1" hangingPunct="1">
              <a:lnSpc>
                <a:spcPct val="80000"/>
              </a:lnSpc>
            </a:pPr>
            <a:endParaRPr lang="en-US" altLang="zh-TW" sz="1800" b="1">
              <a:ea typeface="新細明體" panose="02020500000000000000" pitchFamily="18" charset="-120"/>
            </a:endParaRPr>
          </a:p>
        </p:txBody>
      </p:sp>
      <p:sp>
        <p:nvSpPr>
          <p:cNvPr id="3076" name="WordArt 3"/>
          <p:cNvSpPr>
            <a:spLocks noChangeArrowheads="1" noChangeShapeType="1" noTextEdit="1"/>
          </p:cNvSpPr>
          <p:nvPr/>
        </p:nvSpPr>
        <p:spPr bwMode="auto">
          <a:xfrm>
            <a:off x="1116013" y="1377950"/>
            <a:ext cx="7777162" cy="1943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TW" sz="2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hlink"/>
                </a:solidFill>
                <a:effectLst>
                  <a:outerShdw dist="35921" dir="2700000" algn="ctr" rotWithShape="0">
                    <a:srgbClr val="868686"/>
                  </a:outerShdw>
                </a:effectLst>
                <a:latin typeface="Arial Black" panose="020B0A04020102020204" pitchFamily="34" charset="0"/>
              </a:rPr>
              <a:t>Machine Learning </a:t>
            </a:r>
            <a:endParaRPr lang="zh-TW" altLang="en-US" sz="24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chemeClr val="hlink"/>
              </a:solidFill>
              <a:effectLst>
                <a:outerShdw dist="35921" dir="2700000" algn="ctr" rotWithShape="0">
                  <a:srgbClr val="868686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250825" y="6276975"/>
            <a:ext cx="8066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61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anose="02020500000000000000" pitchFamily="18" charset="-120"/>
              </a:rPr>
              <a:t>章節目錄</a:t>
            </a:r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857691" y="1928188"/>
            <a:ext cx="7763121" cy="411008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第一章 簡介</a:t>
            </a:r>
            <a:endParaRPr lang="en-US" altLang="zh-TW" sz="2000" dirty="0">
              <a:ea typeface="新細明體" panose="02020500000000000000" pitchFamily="18" charset="-120"/>
            </a:endParaRPr>
          </a:p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第二</a:t>
            </a:r>
            <a:r>
              <a:rPr lang="zh-TW" altLang="en-US" sz="2000" dirty="0">
                <a:solidFill>
                  <a:schemeClr val="tx1"/>
                </a:solidFill>
                <a:ea typeface="新細明體" panose="02020500000000000000" pitchFamily="18" charset="-120"/>
              </a:rPr>
              <a:t>章 </a:t>
            </a:r>
            <a:r>
              <a:rPr lang="en-US" altLang="zh-TW" sz="2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Tensorflow</a:t>
            </a:r>
            <a:r>
              <a:rPr lang="en-US" altLang="zh-TW" sz="2000" dirty="0">
                <a:solidFill>
                  <a:schemeClr val="tx1"/>
                </a:solidFill>
                <a:ea typeface="新細明體" panose="02020500000000000000" pitchFamily="18" charset="-120"/>
              </a:rPr>
              <a:t>/</a:t>
            </a:r>
            <a:r>
              <a:rPr lang="en-US" altLang="zh-TW" sz="2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Keras</a:t>
            </a:r>
            <a:r>
              <a:rPr lang="zh-TW" altLang="en-US" sz="2000" dirty="0">
                <a:solidFill>
                  <a:schemeClr val="tx1"/>
                </a:solidFill>
                <a:ea typeface="新細明體" panose="02020500000000000000" pitchFamily="18" charset="-120"/>
              </a:rPr>
              <a:t>入門</a:t>
            </a:r>
            <a:endParaRPr lang="en-US" altLang="zh-TW" sz="2000" dirty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第三章 貝氏定理回顧</a:t>
            </a:r>
          </a:p>
          <a:p>
            <a:pPr>
              <a:defRPr/>
            </a:pPr>
            <a:r>
              <a:rPr lang="zh-TW" altLang="en-US" sz="2000" dirty="0">
                <a:solidFill>
                  <a:srgbClr val="FF0000"/>
                </a:solidFill>
                <a:ea typeface="新細明體" panose="02020500000000000000" pitchFamily="18" charset="-120"/>
              </a:rPr>
              <a:t>第四章 監督式學習</a:t>
            </a:r>
          </a:p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第五章 神經網路與深度學習</a:t>
            </a:r>
            <a:endParaRPr lang="zh-TW" altLang="en-US" sz="20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ea typeface="新細明體" panose="02020500000000000000" pitchFamily="18" charset="-120"/>
              </a:rPr>
              <a:t>第六章 卷積神經網路</a:t>
            </a:r>
          </a:p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第七章 遞迴神經網路</a:t>
            </a:r>
          </a:p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第八章 非監督式學習</a:t>
            </a:r>
          </a:p>
          <a:p>
            <a:pPr>
              <a:defRPr/>
            </a:pPr>
            <a:r>
              <a:rPr lang="zh-TW" altLang="en-US" sz="2000" dirty="0">
                <a:ea typeface="新細明體" panose="02020500000000000000" pitchFamily="18" charset="-120"/>
              </a:rPr>
              <a:t>第九章 強化學習</a:t>
            </a:r>
            <a:endParaRPr lang="en-US" altLang="zh-TW" sz="2000" dirty="0">
              <a:ea typeface="新細明體" panose="02020500000000000000" pitchFamily="18" charset="-12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24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EE0476-447F-4155-8B6A-BED87644254F}" type="slidenum">
              <a:rPr lang="en-GB" altLang="zh-TW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50784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ea typeface="新細明體" panose="02020500000000000000" pitchFamily="18" charset="-120"/>
              </a:rPr>
              <a:t>監督式學習</a:t>
            </a:r>
          </a:p>
        </p:txBody>
      </p:sp>
      <p:sp>
        <p:nvSpPr>
          <p:cNvPr id="614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BCA991-61F1-4234-A93F-D1C120A3F79F}" type="slidenum">
              <a:rPr lang="en-GB" altLang="zh-TW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zh-TW"/>
          </a:p>
        </p:txBody>
      </p:sp>
      <p:sp>
        <p:nvSpPr>
          <p:cNvPr id="6148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>
                <a:solidFill>
                  <a:schemeClr val="tx1"/>
                </a:solidFill>
                <a:ea typeface="新細明體" panose="02020500000000000000" pitchFamily="18" charset="-120"/>
              </a:rPr>
              <a:t>Supervised Learning</a:t>
            </a:r>
          </a:p>
          <a:p>
            <a:r>
              <a:rPr lang="en-US" altLang="zh-TW" dirty="0"/>
              <a:t>	k-nearest neighbor classifier</a:t>
            </a:r>
          </a:p>
          <a:p>
            <a:r>
              <a:rPr lang="en-US" altLang="zh-TW" dirty="0"/>
              <a:t>	Naïve Bayes</a:t>
            </a:r>
          </a:p>
          <a:p>
            <a:r>
              <a:rPr lang="en-US" altLang="zh-TW" dirty="0"/>
              <a:t>	Logistic Regression</a:t>
            </a:r>
          </a:p>
          <a:p>
            <a:r>
              <a:rPr lang="en-US" altLang="zh-TW" dirty="0"/>
              <a:t>	Support Vector Machines</a:t>
            </a:r>
          </a:p>
          <a:p>
            <a:endParaRPr lang="zh-TW" altLang="en-US" dirty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091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NEIGHBOR CLASSIFICATION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4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Illustrating Classification Task</a:t>
            </a:r>
          </a:p>
        </p:txBody>
      </p:sp>
      <p:graphicFrame>
        <p:nvGraphicFramePr>
          <p:cNvPr id="828442" name="Object 2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670174"/>
              </p:ext>
            </p:extLst>
          </p:nvPr>
        </p:nvGraphicFramePr>
        <p:xfrm>
          <a:off x="1217613" y="1524000"/>
          <a:ext cx="680085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5" name="Visio" r:id="rId3" imgW="8529300" imgH="6498656" progId="Visio.Drawing.11">
                  <p:embed/>
                </p:oleObj>
              </mc:Choice>
              <mc:Fallback>
                <p:oleObj name="Visio" r:id="rId3" imgW="8529300" imgH="649865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1524000"/>
                        <a:ext cx="680085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8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Instance-Based Classifiers</a:t>
            </a:r>
          </a:p>
        </p:txBody>
      </p:sp>
      <p:graphicFrame>
        <p:nvGraphicFramePr>
          <p:cNvPr id="1052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356877"/>
              </p:ext>
            </p:extLst>
          </p:nvPr>
        </p:nvGraphicFramePr>
        <p:xfrm>
          <a:off x="228600" y="1554162"/>
          <a:ext cx="4572000" cy="530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0" name="VISIO" r:id="rId3" imgW="4571640" imgH="5304600" progId="Visio.Drawing.6">
                  <p:embed/>
                </p:oleObj>
              </mc:Choice>
              <mc:Fallback>
                <p:oleObj name="VISIO" r:id="rId3" imgW="4571640" imgH="5304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54162"/>
                        <a:ext cx="4572000" cy="530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674382"/>
              </p:ext>
            </p:extLst>
          </p:nvPr>
        </p:nvGraphicFramePr>
        <p:xfrm>
          <a:off x="4114800" y="3476625"/>
          <a:ext cx="2209800" cy="242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1" name="VISIO" r:id="rId5" imgW="2782440" imgH="2637360" progId="Visio.Drawing.6">
                  <p:embed/>
                </p:oleObj>
              </mc:Choice>
              <mc:Fallback>
                <p:oleObj name="VISIO" r:id="rId5" imgW="2782440" imgH="2637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76625"/>
                        <a:ext cx="2209800" cy="242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417631"/>
              </p:ext>
            </p:extLst>
          </p:nvPr>
        </p:nvGraphicFramePr>
        <p:xfrm>
          <a:off x="6096000" y="3840162"/>
          <a:ext cx="3227388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2" name="VISIO" r:id="rId7" imgW="3227400" imgH="2032920" progId="Visio.Drawing.6">
                  <p:embed/>
                </p:oleObj>
              </mc:Choice>
              <mc:Fallback>
                <p:oleObj name="VISIO" r:id="rId7" imgW="3227400" imgH="2032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40162"/>
                        <a:ext cx="3227388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2678" name="Text Box 6"/>
          <p:cNvSpPr txBox="1">
            <a:spLocks noChangeArrowheads="1"/>
          </p:cNvSpPr>
          <p:nvPr/>
        </p:nvSpPr>
        <p:spPr bwMode="auto">
          <a:xfrm>
            <a:off x="5334000" y="1858962"/>
            <a:ext cx="358140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Store the training records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Use training records to </a:t>
            </a:r>
            <a:br>
              <a:rPr lang="en-US" sz="1800"/>
            </a:br>
            <a:r>
              <a:rPr lang="en-US" sz="1800"/>
              <a:t>   predict the class label of </a:t>
            </a:r>
            <a:br>
              <a:rPr lang="en-US" sz="1800"/>
            </a:br>
            <a:r>
              <a:rPr lang="en-US" sz="1800"/>
              <a:t>   unseen cases</a:t>
            </a:r>
          </a:p>
        </p:txBody>
      </p:sp>
    </p:spTree>
    <p:extLst>
      <p:ext uri="{BB962C8B-B14F-4D97-AF65-F5344CB8AC3E}">
        <p14:creationId xmlns:p14="http://schemas.microsoft.com/office/powerpoint/2010/main" val="282718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 Based Classifiers</a:t>
            </a:r>
          </a:p>
        </p:txBody>
      </p:sp>
      <p:sp>
        <p:nvSpPr>
          <p:cNvPr id="105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Rote-learner</a:t>
            </a:r>
          </a:p>
          <a:p>
            <a:pPr lvl="2"/>
            <a:r>
              <a:rPr lang="en-US" dirty="0"/>
              <a:t> Memorizes entire training data and performs classification only if attributes of record match one of the training examples exactly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Nearest neighbor classifier</a:t>
            </a:r>
          </a:p>
          <a:p>
            <a:pPr lvl="2"/>
            <a:r>
              <a:rPr lang="en-US" dirty="0"/>
              <a:t> Uses k “closest” points (nearest neighbors) for performing classification</a:t>
            </a:r>
          </a:p>
          <a:p>
            <a:pPr lvl="2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22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Classifiers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“</a:t>
            </a:r>
            <a:r>
              <a:rPr lang="en-US" i="1" dirty="0"/>
              <a:t>If it walks like a duck, quacks like a duck, then it’s probably a duck</a:t>
            </a:r>
            <a:r>
              <a:rPr lang="en-US" dirty="0"/>
              <a:t>”</a:t>
            </a:r>
          </a:p>
        </p:txBody>
      </p:sp>
      <p:grpSp>
        <p:nvGrpSpPr>
          <p:cNvPr id="1054724" name="Group 4"/>
          <p:cNvGrpSpPr>
            <a:grpSpLocks/>
          </p:cNvGrpSpPr>
          <p:nvPr/>
        </p:nvGrpSpPr>
        <p:grpSpPr bwMode="auto">
          <a:xfrm>
            <a:off x="304800" y="3124200"/>
            <a:ext cx="8229600" cy="3429000"/>
            <a:chOff x="192" y="1776"/>
            <a:chExt cx="5184" cy="2160"/>
          </a:xfrm>
        </p:grpSpPr>
        <p:pic>
          <p:nvPicPr>
            <p:cNvPr id="1054725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6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7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8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9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730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54731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732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Training Records</a:t>
              </a:r>
            </a:p>
          </p:txBody>
        </p:sp>
        <p:sp>
          <p:nvSpPr>
            <p:cNvPr id="1054733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Test Record</a:t>
              </a:r>
            </a:p>
          </p:txBody>
        </p:sp>
      </p:grpSp>
      <p:grpSp>
        <p:nvGrpSpPr>
          <p:cNvPr id="1054734" name="Group 14"/>
          <p:cNvGrpSpPr>
            <a:grpSpLocks/>
          </p:cNvGrpSpPr>
          <p:nvPr/>
        </p:nvGrpSpPr>
        <p:grpSpPr bwMode="auto">
          <a:xfrm>
            <a:off x="2667000" y="3352800"/>
            <a:ext cx="4572000" cy="2286000"/>
            <a:chOff x="1680" y="1920"/>
            <a:chExt cx="2880" cy="1440"/>
          </a:xfrm>
        </p:grpSpPr>
        <p:sp>
          <p:nvSpPr>
            <p:cNvPr id="1054735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Compute Distance</a:t>
              </a:r>
            </a:p>
          </p:txBody>
        </p:sp>
        <p:grpSp>
          <p:nvGrpSpPr>
            <p:cNvPr id="1054736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1054737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38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39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40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41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54742" name="Group 22"/>
          <p:cNvGrpSpPr>
            <a:grpSpLocks/>
          </p:cNvGrpSpPr>
          <p:nvPr/>
        </p:nvGrpSpPr>
        <p:grpSpPr bwMode="auto">
          <a:xfrm>
            <a:off x="4038600" y="4876800"/>
            <a:ext cx="3352800" cy="1327150"/>
            <a:chOff x="2544" y="2880"/>
            <a:chExt cx="2112" cy="836"/>
          </a:xfrm>
        </p:grpSpPr>
        <p:sp>
          <p:nvSpPr>
            <p:cNvPr id="1054743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Choose k of the “nearest” records</a:t>
              </a:r>
            </a:p>
          </p:txBody>
        </p:sp>
        <p:grpSp>
          <p:nvGrpSpPr>
            <p:cNvPr id="1054744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1054745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46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744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Nearest-Neighbor Classifiers</a:t>
            </a:r>
          </a:p>
        </p:txBody>
      </p:sp>
      <p:sp>
        <p:nvSpPr>
          <p:cNvPr id="1055747" name="Rectangle 3"/>
          <p:cNvSpPr>
            <a:spLocks noChangeArrowheads="1"/>
          </p:cNvSpPr>
          <p:nvPr/>
        </p:nvSpPr>
        <p:spPr bwMode="auto">
          <a:xfrm>
            <a:off x="5029200" y="1600200"/>
            <a:ext cx="396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800" b="0" dirty="0"/>
              <a:t>Requires three things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1800" b="0" dirty="0"/>
              <a:t>The set of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stored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1800" b="0" dirty="0">
                <a:solidFill>
                  <a:srgbClr val="0070C0"/>
                </a:solidFill>
              </a:rPr>
              <a:t>Distance Metric</a:t>
            </a:r>
            <a:r>
              <a:rPr lang="en-US" sz="1800" b="0" dirty="0">
                <a:solidFill>
                  <a:srgbClr val="FF0000"/>
                </a:solidFill>
              </a:rPr>
              <a:t> </a:t>
            </a:r>
            <a:r>
              <a:rPr lang="en-US" sz="1800" b="0" dirty="0"/>
              <a:t>to compute distance between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1800" b="0" dirty="0"/>
              <a:t>The value of </a:t>
            </a:r>
            <a:r>
              <a:rPr lang="en-US" sz="1800" b="0" i="1" dirty="0">
                <a:solidFill>
                  <a:srgbClr val="FF0000"/>
                </a:solidFill>
              </a:rPr>
              <a:t>k</a:t>
            </a:r>
            <a:r>
              <a:rPr lang="en-US" sz="1800" b="0" dirty="0">
                <a:solidFill>
                  <a:srgbClr val="FF0000"/>
                </a:solidFill>
              </a:rPr>
              <a:t>, </a:t>
            </a:r>
            <a:r>
              <a:rPr lang="en-US" sz="1800" b="0" dirty="0">
                <a:solidFill>
                  <a:srgbClr val="0070C0"/>
                </a:solidFill>
              </a:rPr>
              <a:t>the number of nearest neighbors </a:t>
            </a:r>
            <a:r>
              <a:rPr lang="en-US" sz="1800" b="0" dirty="0"/>
              <a:t>to retrieve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endParaRPr lang="en-US" sz="1800" b="0" dirty="0"/>
          </a:p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800" b="0" dirty="0"/>
              <a:t>To classify an unknown record: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+mj-lt"/>
              <a:buAutoNum type="arabicPeriod"/>
            </a:pP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Compute distance </a:t>
            </a:r>
            <a:r>
              <a:rPr lang="en-US" sz="1800" b="0" dirty="0"/>
              <a:t>to other training records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+mj-lt"/>
              <a:buAutoNum type="arabicPeriod"/>
            </a:pPr>
            <a:r>
              <a:rPr lang="en-US" sz="1800" b="0" dirty="0"/>
              <a:t>Identify </a:t>
            </a:r>
            <a:r>
              <a:rPr lang="en-US" sz="1800" b="0" i="1" dirty="0">
                <a:solidFill>
                  <a:srgbClr val="FF0000"/>
                </a:solidFill>
              </a:rPr>
              <a:t>k</a:t>
            </a:r>
            <a:r>
              <a:rPr lang="en-US" sz="1800" b="0" dirty="0"/>
              <a:t> </a:t>
            </a:r>
            <a:r>
              <a:rPr lang="en-US" sz="1800" b="0" dirty="0">
                <a:solidFill>
                  <a:srgbClr val="0070C0"/>
                </a:solidFill>
              </a:rPr>
              <a:t>nearest neighbors 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+mj-lt"/>
              <a:buAutoNum type="arabicPeriod"/>
            </a:pPr>
            <a:r>
              <a:rPr lang="en-US" sz="1800" b="0" dirty="0"/>
              <a:t>Use class labels of nearest neighbors to determine the class label of unknown record (e.g., by taking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majority vote</a:t>
            </a:r>
            <a:r>
              <a:rPr lang="en-US" sz="1800" b="0" dirty="0"/>
              <a:t>)</a:t>
            </a:r>
          </a:p>
        </p:txBody>
      </p:sp>
      <p:graphicFrame>
        <p:nvGraphicFramePr>
          <p:cNvPr id="1055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24592"/>
              </p:ext>
            </p:extLst>
          </p:nvPr>
        </p:nvGraphicFramePr>
        <p:xfrm>
          <a:off x="457200" y="16002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2" name="Visio" r:id="rId3" imgW="7007454" imgH="8108144" progId="Visio.Drawing.6">
                  <p:embed/>
                </p:oleObj>
              </mc:Choice>
              <mc:Fallback>
                <p:oleObj name="Visio" r:id="rId3" imgW="7007454" imgH="81081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02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3841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Nearest Neighbor</a:t>
            </a:r>
          </a:p>
        </p:txBody>
      </p:sp>
      <p:graphicFrame>
        <p:nvGraphicFramePr>
          <p:cNvPr id="1056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716664"/>
              </p:ext>
            </p:extLst>
          </p:nvPr>
        </p:nvGraphicFramePr>
        <p:xfrm>
          <a:off x="533400" y="1752600"/>
          <a:ext cx="78486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6" name="VISIO" r:id="rId3" imgW="9756360" imgH="4523760" progId="Visio.Drawing.6">
                  <p:embed/>
                </p:oleObj>
              </mc:Choice>
              <mc:Fallback>
                <p:oleObj name="VISIO" r:id="rId3" imgW="9756360" imgH="452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52600"/>
                        <a:ext cx="7848600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2" name="Rectangle 4"/>
          <p:cNvSpPr>
            <a:spLocks noChangeArrowheads="1"/>
          </p:cNvSpPr>
          <p:nvPr/>
        </p:nvSpPr>
        <p:spPr bwMode="auto">
          <a:xfrm>
            <a:off x="762000" y="5410200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/>
              <a:t>    K-nearest neighbors of a record x are data points that have the k smallest distance to x</a:t>
            </a:r>
          </a:p>
        </p:txBody>
      </p:sp>
    </p:spTree>
    <p:extLst>
      <p:ext uri="{BB962C8B-B14F-4D97-AF65-F5344CB8AC3E}">
        <p14:creationId xmlns:p14="http://schemas.microsoft.com/office/powerpoint/2010/main" val="288249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 nearest-neighbor</a:t>
            </a:r>
          </a:p>
        </p:txBody>
      </p:sp>
      <p:pic>
        <p:nvPicPr>
          <p:cNvPr id="1057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6172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7796" name="Rectangle 4"/>
          <p:cNvSpPr>
            <a:spLocks noChangeArrowheads="1"/>
          </p:cNvSpPr>
          <p:nvPr/>
        </p:nvSpPr>
        <p:spPr bwMode="auto">
          <a:xfrm>
            <a:off x="381000" y="14478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 err="1"/>
              <a:t>Voronoi</a:t>
            </a:r>
            <a:r>
              <a:rPr lang="en-US" sz="2400" b="0" dirty="0"/>
              <a:t> Diagram defines the classificatio</a:t>
            </a:r>
            <a:r>
              <a:rPr lang="en-US" sz="2400" dirty="0"/>
              <a:t>n boundary</a:t>
            </a:r>
            <a:endParaRPr lang="en-US" sz="2400" b="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447800" y="4343400"/>
            <a:ext cx="2895600" cy="8382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" y="5167952"/>
            <a:ext cx="2186977" cy="92333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area takes the class of the green point</a:t>
            </a:r>
          </a:p>
        </p:txBody>
      </p:sp>
      <p:sp>
        <p:nvSpPr>
          <p:cNvPr id="9" name="Oval 8"/>
          <p:cNvSpPr/>
          <p:nvPr/>
        </p:nvSpPr>
        <p:spPr>
          <a:xfrm>
            <a:off x="4419600" y="4267200"/>
            <a:ext cx="152400" cy="15240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3886200" y="3124200"/>
            <a:ext cx="228600" cy="10668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14800" y="3124200"/>
            <a:ext cx="1447800" cy="6096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562600" y="3733800"/>
            <a:ext cx="152400" cy="1524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715000" y="3886200"/>
            <a:ext cx="76200" cy="2286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562600" y="4114800"/>
            <a:ext cx="190500" cy="4572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762500" y="4610100"/>
            <a:ext cx="800100" cy="1905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798" name="Straight Connector 1057797"/>
          <p:cNvCxnSpPr/>
          <p:nvPr/>
        </p:nvCxnSpPr>
        <p:spPr>
          <a:xfrm>
            <a:off x="4114800" y="4800600"/>
            <a:ext cx="6477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805" name="Straight Connector 1057804"/>
          <p:cNvCxnSpPr/>
          <p:nvPr/>
        </p:nvCxnSpPr>
        <p:spPr>
          <a:xfrm>
            <a:off x="3886200" y="4191000"/>
            <a:ext cx="228600" cy="6096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29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</a:t>
            </a:r>
          </a:p>
        </p:txBody>
      </p:sp>
      <p:sp>
        <p:nvSpPr>
          <p:cNvPr id="105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76800"/>
          </a:xfrm>
        </p:spPr>
        <p:txBody>
          <a:bodyPr/>
          <a:lstStyle/>
          <a:p>
            <a:r>
              <a:rPr lang="en-US" dirty="0"/>
              <a:t>Compute distance between two points:</a:t>
            </a:r>
          </a:p>
          <a:p>
            <a:pPr lvl="1"/>
            <a:r>
              <a:rPr lang="en-US" dirty="0"/>
              <a:t>Euclidean distance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buFont typeface="Monotype Sorts" pitchFamily="2" charset="2"/>
              <a:buNone/>
            </a:pPr>
            <a:endParaRPr lang="en-US" dirty="0"/>
          </a:p>
          <a:p>
            <a:r>
              <a:rPr lang="en-US" dirty="0"/>
              <a:t>Determine the class from nearest neighbor list</a:t>
            </a:r>
          </a:p>
          <a:p>
            <a:pPr lvl="1"/>
            <a:r>
              <a:rPr lang="en-US" dirty="0"/>
              <a:t>take the majority vote of class labels among the k-nearest neighbors</a:t>
            </a:r>
          </a:p>
          <a:p>
            <a:pPr lvl="1"/>
            <a:r>
              <a:rPr lang="en-US" dirty="0"/>
              <a:t>Weigh the vote according to distance</a:t>
            </a:r>
          </a:p>
          <a:p>
            <a:pPr lvl="2"/>
            <a:r>
              <a:rPr lang="en-US" dirty="0"/>
              <a:t> weight factor, w = 1/</a:t>
            </a:r>
            <a:r>
              <a:rPr lang="en-US" dirty="0" err="1"/>
              <a:t>d</a:t>
            </a:r>
            <a:r>
              <a:rPr lang="en-US" baseline="30000" dirty="0" err="1"/>
              <a:t>2</a:t>
            </a:r>
            <a:endParaRPr lang="en-US" baseline="30000" dirty="0"/>
          </a:p>
        </p:txBody>
      </p:sp>
      <p:graphicFrame>
        <p:nvGraphicFramePr>
          <p:cNvPr id="1058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348940"/>
              </p:ext>
            </p:extLst>
          </p:nvPr>
        </p:nvGraphicFramePr>
        <p:xfrm>
          <a:off x="1905000" y="2895601"/>
          <a:ext cx="4648200" cy="78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0" name="Equation" r:id="rId3" imgW="2705040" imgH="457200" progId="Equation.3">
                  <p:embed/>
                </p:oleObj>
              </mc:Choice>
              <mc:Fallback>
                <p:oleObj name="Equation" r:id="rId3" imgW="2705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95601"/>
                        <a:ext cx="4648200" cy="78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506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5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Choosing the value of k:</a:t>
            </a:r>
          </a:p>
          <a:p>
            <a:pPr lvl="1"/>
            <a:r>
              <a:rPr lang="en-US" sz="2400"/>
              <a:t>If k is too small, sensitive to noise points</a:t>
            </a:r>
          </a:p>
          <a:p>
            <a:pPr lvl="1"/>
            <a:r>
              <a:rPr lang="en-US" sz="2400"/>
              <a:t>If k is too large, neighborhood may include points from other classes</a:t>
            </a:r>
          </a:p>
        </p:txBody>
      </p:sp>
      <p:graphicFrame>
        <p:nvGraphicFramePr>
          <p:cNvPr id="1059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901684"/>
              </p:ext>
            </p:extLst>
          </p:nvPr>
        </p:nvGraphicFramePr>
        <p:xfrm>
          <a:off x="3657600" y="3200400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4" name="Visio" r:id="rId3" imgW="6582512" imgH="5298053" progId="Visio.Drawing.6">
                  <p:embed/>
                </p:oleObj>
              </mc:Choice>
              <mc:Fallback>
                <p:oleObj name="Visio" r:id="rId3" imgW="6582512" imgH="529805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00400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2670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Scaling issues</a:t>
            </a:r>
          </a:p>
          <a:p>
            <a:pPr lvl="1"/>
            <a:r>
              <a:rPr lang="en-US"/>
              <a:t>Attributes may have to be scaled to prevent distance measures from being dominated by one of the attributes</a:t>
            </a:r>
          </a:p>
          <a:p>
            <a:pPr lvl="1"/>
            <a:r>
              <a:rPr lang="en-US"/>
              <a:t>Example:</a:t>
            </a:r>
          </a:p>
          <a:p>
            <a:pPr lvl="2"/>
            <a:r>
              <a:rPr lang="en-US"/>
              <a:t> height of a person may vary from 1.5m to 1.8m</a:t>
            </a:r>
          </a:p>
          <a:p>
            <a:pPr lvl="2"/>
            <a:r>
              <a:rPr lang="en-US"/>
              <a:t> weight of a person may vary from 90lb to 300lb</a:t>
            </a:r>
          </a:p>
          <a:p>
            <a:pPr lvl="2"/>
            <a:r>
              <a:rPr lang="en-US"/>
              <a:t> income of a person may vary from $10K to $1M</a:t>
            </a:r>
          </a:p>
        </p:txBody>
      </p:sp>
    </p:spTree>
    <p:extLst>
      <p:ext uri="{BB962C8B-B14F-4D97-AF65-F5344CB8AC3E}">
        <p14:creationId xmlns:p14="http://schemas.microsoft.com/office/powerpoint/2010/main" val="385624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r>
              <a:rPr lang="en-US"/>
              <a:t>Problem with Euclidean measure:</a:t>
            </a:r>
          </a:p>
          <a:p>
            <a:pPr lvl="1"/>
            <a:r>
              <a:rPr lang="en-US"/>
              <a:t>High dimensional data </a:t>
            </a:r>
          </a:p>
          <a:p>
            <a:pPr lvl="2"/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curse of dimensionality</a:t>
            </a:r>
          </a:p>
          <a:p>
            <a:pPr lvl="1"/>
            <a:r>
              <a:rPr lang="en-US"/>
              <a:t>Can produce counter-intuitive results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1061892" name="Text Box 4"/>
          <p:cNvSpPr txBox="1">
            <a:spLocks noChangeArrowheads="1"/>
          </p:cNvSpPr>
          <p:nvPr/>
        </p:nvSpPr>
        <p:spPr bwMode="auto">
          <a:xfrm>
            <a:off x="457200" y="39465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1 1 1 1 1 1 1 1 1 1 1 0</a:t>
            </a:r>
          </a:p>
        </p:txBody>
      </p:sp>
      <p:sp>
        <p:nvSpPr>
          <p:cNvPr id="1061893" name="Text Box 5"/>
          <p:cNvSpPr txBox="1">
            <a:spLocks noChangeArrowheads="1"/>
          </p:cNvSpPr>
          <p:nvPr/>
        </p:nvSpPr>
        <p:spPr bwMode="auto">
          <a:xfrm>
            <a:off x="457200" y="46323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0 1 1 1 1 1 1 1 1 1 1 1</a:t>
            </a:r>
          </a:p>
        </p:txBody>
      </p:sp>
      <p:sp>
        <p:nvSpPr>
          <p:cNvPr id="1061894" name="Text Box 6"/>
          <p:cNvSpPr txBox="1">
            <a:spLocks noChangeArrowheads="1"/>
          </p:cNvSpPr>
          <p:nvPr/>
        </p:nvSpPr>
        <p:spPr bwMode="auto">
          <a:xfrm>
            <a:off x="4876800" y="39592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1 0 0 0 0 0 0 0 0 0 0 0</a:t>
            </a:r>
          </a:p>
        </p:txBody>
      </p:sp>
      <p:sp>
        <p:nvSpPr>
          <p:cNvPr id="1061895" name="Text Box 7"/>
          <p:cNvSpPr txBox="1">
            <a:spLocks noChangeArrowheads="1"/>
          </p:cNvSpPr>
          <p:nvPr/>
        </p:nvSpPr>
        <p:spPr bwMode="auto">
          <a:xfrm>
            <a:off x="4876800" y="46450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0 0 0 0 0 0 0 0 0 0 0 1</a:t>
            </a:r>
          </a:p>
        </p:txBody>
      </p:sp>
      <p:sp>
        <p:nvSpPr>
          <p:cNvPr id="1061896" name="Rectangle 8"/>
          <p:cNvSpPr>
            <a:spLocks noChangeArrowheads="1"/>
          </p:cNvSpPr>
          <p:nvPr/>
        </p:nvSpPr>
        <p:spPr bwMode="auto">
          <a:xfrm>
            <a:off x="3962400" y="4264025"/>
            <a:ext cx="55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/>
              <a:t>vs</a:t>
            </a:r>
          </a:p>
        </p:txBody>
      </p:sp>
      <p:sp>
        <p:nvSpPr>
          <p:cNvPr id="1061897" name="Text Box 9"/>
          <p:cNvSpPr txBox="1">
            <a:spLocks noChangeArrowheads="1"/>
          </p:cNvSpPr>
          <p:nvPr/>
        </p:nvSpPr>
        <p:spPr bwMode="auto">
          <a:xfrm>
            <a:off x="1295400" y="5241925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 = 1.4142</a:t>
            </a:r>
          </a:p>
        </p:txBody>
      </p:sp>
      <p:sp>
        <p:nvSpPr>
          <p:cNvPr id="1061898" name="Text Box 10"/>
          <p:cNvSpPr txBox="1">
            <a:spLocks noChangeArrowheads="1"/>
          </p:cNvSpPr>
          <p:nvPr/>
        </p:nvSpPr>
        <p:spPr bwMode="auto">
          <a:xfrm>
            <a:off x="5715000" y="5241925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 = 1.4142</a:t>
            </a:r>
          </a:p>
        </p:txBody>
      </p:sp>
      <p:sp>
        <p:nvSpPr>
          <p:cNvPr id="1061899" name="Rectangle 11"/>
          <p:cNvSpPr>
            <a:spLocks noChangeArrowheads="1"/>
          </p:cNvSpPr>
          <p:nvPr/>
        </p:nvSpPr>
        <p:spPr bwMode="auto">
          <a:xfrm>
            <a:off x="457200" y="5562600"/>
            <a:ext cx="83185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1143000" lvl="2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None/>
            </a:pPr>
            <a:r>
              <a:rPr lang="en-US" sz="2400" b="0"/>
              <a:t> </a:t>
            </a:r>
          </a:p>
          <a:p>
            <a:pPr marL="1143000" lvl="2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</a:pPr>
            <a:r>
              <a:rPr lang="en-US" sz="2400" b="0"/>
              <a:t> Solution: Normalize the vectors to unit length</a:t>
            </a:r>
          </a:p>
        </p:txBody>
      </p:sp>
    </p:spTree>
    <p:extLst>
      <p:ext uri="{BB962C8B-B14F-4D97-AF65-F5344CB8AC3E}">
        <p14:creationId xmlns:p14="http://schemas.microsoft.com/office/powerpoint/2010/main" val="389810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7" grpId="0" autoUpdateAnimBg="0"/>
      <p:bldP spid="1061898" grpId="0" autoUpdateAnimBg="0"/>
      <p:bldP spid="106189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k-NN classifiers are </a:t>
            </a:r>
            <a:r>
              <a:rPr lang="en-US" dirty="0">
                <a:solidFill>
                  <a:srgbClr val="FF0000"/>
                </a:solidFill>
              </a:rPr>
              <a:t>lazy learners </a:t>
            </a:r>
          </a:p>
          <a:p>
            <a:pPr lvl="1"/>
            <a:r>
              <a:rPr lang="en-US" dirty="0"/>
              <a:t>It does not build models explicitly</a:t>
            </a:r>
          </a:p>
          <a:p>
            <a:pPr lvl="1"/>
            <a:r>
              <a:rPr lang="en-US" dirty="0"/>
              <a:t>Unlike </a:t>
            </a:r>
            <a:r>
              <a:rPr lang="en-US" dirty="0">
                <a:solidFill>
                  <a:srgbClr val="0070C0"/>
                </a:solidFill>
              </a:rPr>
              <a:t>eager learners </a:t>
            </a:r>
            <a:r>
              <a:rPr lang="en-US" dirty="0"/>
              <a:t>such as decision trees </a:t>
            </a:r>
          </a:p>
          <a:p>
            <a:r>
              <a:rPr lang="en-US" dirty="0"/>
              <a:t>Classifying unknown records are relatively expensive</a:t>
            </a:r>
          </a:p>
          <a:p>
            <a:pPr lvl="1"/>
            <a:r>
              <a:rPr lang="en-US" dirty="0"/>
              <a:t>Naïve algorithm: O(n)</a:t>
            </a:r>
          </a:p>
          <a:p>
            <a:pPr lvl="1"/>
            <a:r>
              <a:rPr lang="en-US" dirty="0"/>
              <a:t>Need for structures to retrieve nearest neighbors fast.</a:t>
            </a:r>
          </a:p>
          <a:p>
            <a:pPr lvl="2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Nearest Neighbor Search </a:t>
            </a:r>
            <a:r>
              <a:rPr lang="en-US" dirty="0"/>
              <a:t>problem.</a:t>
            </a:r>
          </a:p>
        </p:txBody>
      </p:sp>
    </p:spTree>
    <p:extLst>
      <p:ext uri="{BB962C8B-B14F-4D97-AF65-F5344CB8AC3E}">
        <p14:creationId xmlns:p14="http://schemas.microsoft.com/office/powerpoint/2010/main" val="4251801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Neighbor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Two-dimensional </a:t>
            </a:r>
            <a:r>
              <a:rPr lang="en-US" dirty="0" err="1">
                <a:solidFill>
                  <a:srgbClr val="FF0000"/>
                </a:solidFill>
              </a:rPr>
              <a:t>kd</a:t>
            </a:r>
            <a:r>
              <a:rPr lang="en-US" dirty="0">
                <a:solidFill>
                  <a:srgbClr val="FF0000"/>
                </a:solidFill>
              </a:rPr>
              <a:t>-trees</a:t>
            </a:r>
          </a:p>
          <a:p>
            <a:pPr lvl="1"/>
            <a:r>
              <a:rPr lang="en-US" dirty="0"/>
              <a:t>A data structure for answering nearest neighbor queries in </a:t>
            </a:r>
            <a:r>
              <a:rPr lang="en-US" dirty="0" err="1">
                <a:solidFill>
                  <a:srgbClr val="0070C0"/>
                </a:solidFill>
              </a:rPr>
              <a:t>R</a:t>
            </a:r>
            <a:r>
              <a:rPr lang="en-US" baseline="30000" dirty="0" err="1">
                <a:solidFill>
                  <a:srgbClr val="0070C0"/>
                </a:solidFill>
              </a:rPr>
              <a:t>2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kd</a:t>
            </a:r>
            <a:r>
              <a:rPr lang="en-US" dirty="0"/>
              <a:t>-tree construction algorithm</a:t>
            </a:r>
          </a:p>
          <a:p>
            <a:pPr lvl="1"/>
            <a:r>
              <a:rPr lang="en-US" dirty="0"/>
              <a:t>Select the </a:t>
            </a:r>
            <a:r>
              <a:rPr lang="en-US" dirty="0">
                <a:solidFill>
                  <a:srgbClr val="0070C0"/>
                </a:solidFill>
              </a:rPr>
              <a:t>x </a:t>
            </a:r>
            <a:r>
              <a:rPr lang="en-US" dirty="0"/>
              <a:t>or </a:t>
            </a:r>
            <a:r>
              <a:rPr lang="en-US" dirty="0">
                <a:solidFill>
                  <a:srgbClr val="0070C0"/>
                </a:solidFill>
              </a:rPr>
              <a:t>y</a:t>
            </a:r>
            <a:r>
              <a:rPr lang="en-US" dirty="0"/>
              <a:t> dimension (alternating between the two)</a:t>
            </a:r>
          </a:p>
          <a:p>
            <a:pPr lvl="1"/>
            <a:r>
              <a:rPr lang="en-US" dirty="0"/>
              <a:t>Partition the space into two with a line passing from the median point</a:t>
            </a:r>
          </a:p>
          <a:p>
            <a:pPr lvl="1"/>
            <a:r>
              <a:rPr lang="en-US" dirty="0"/>
              <a:t>Repeat recursively in the two partitions as long as there are enough points  </a:t>
            </a:r>
          </a:p>
        </p:txBody>
      </p:sp>
    </p:spTree>
    <p:extLst>
      <p:ext uri="{BB962C8B-B14F-4D97-AF65-F5344CB8AC3E}">
        <p14:creationId xmlns:p14="http://schemas.microsoft.com/office/powerpoint/2010/main" val="1392634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595" name="Title 1"/>
          <p:cNvSpPr>
            <a:spLocks/>
          </p:cNvSpPr>
          <p:nvPr/>
        </p:nvSpPr>
        <p:spPr bwMode="auto">
          <a:xfrm>
            <a:off x="4648200" y="61722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pic>
        <p:nvPicPr>
          <p:cNvPr id="305459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81200"/>
            <a:ext cx="5029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4146713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56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90688"/>
            <a:ext cx="46482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/>
          </p:cNvSpPr>
          <p:nvPr/>
        </p:nvSpPr>
        <p:spPr bwMode="auto">
          <a:xfrm>
            <a:off x="4648200" y="61722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1889060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664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76400"/>
            <a:ext cx="4686300" cy="431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/>
          </p:cNvSpPr>
          <p:nvPr/>
        </p:nvSpPr>
        <p:spPr bwMode="auto">
          <a:xfrm>
            <a:off x="4648200" y="61722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3186704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766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752600"/>
            <a:ext cx="484822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/>
          </p:cNvSpPr>
          <p:nvPr/>
        </p:nvSpPr>
        <p:spPr bwMode="auto">
          <a:xfrm>
            <a:off x="4648200" y="61722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724912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869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52600"/>
            <a:ext cx="4572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/>
          </p:cNvSpPr>
          <p:nvPr/>
        </p:nvSpPr>
        <p:spPr bwMode="auto">
          <a:xfrm>
            <a:off x="4648200" y="61722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1921999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97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489200"/>
            <a:ext cx="37338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597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3200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/>
          </p:cNvSpPr>
          <p:nvPr/>
        </p:nvSpPr>
        <p:spPr bwMode="auto">
          <a:xfrm>
            <a:off x="2426970" y="15240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2432422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07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6400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60743" name="Text Box 7"/>
          <p:cNvSpPr txBox="1">
            <a:spLocks noChangeArrowheads="1"/>
          </p:cNvSpPr>
          <p:nvPr/>
        </p:nvSpPr>
        <p:spPr bwMode="auto">
          <a:xfrm>
            <a:off x="3505200" y="1937286"/>
            <a:ext cx="4800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Calibri" pitchFamily="34" charset="0"/>
              </a:rPr>
              <a:t>region(u)</a:t>
            </a:r>
            <a:r>
              <a:rPr lang="el-GR" sz="1600" dirty="0">
                <a:latin typeface="Calibri" pitchFamily="34" charset="0"/>
              </a:rPr>
              <a:t> – </a:t>
            </a:r>
            <a:r>
              <a:rPr lang="en-US" sz="1600" dirty="0">
                <a:latin typeface="Calibri" pitchFamily="34" charset="0"/>
              </a:rPr>
              <a:t>all the black points in the </a:t>
            </a:r>
            <a:r>
              <a:rPr lang="en-US" sz="1600" dirty="0" err="1">
                <a:latin typeface="Calibri" pitchFamily="34" charset="0"/>
              </a:rPr>
              <a:t>subtree</a:t>
            </a:r>
            <a:r>
              <a:rPr lang="en-US" sz="1600" dirty="0">
                <a:latin typeface="Calibri" pitchFamily="34" charset="0"/>
              </a:rPr>
              <a:t> of u</a:t>
            </a:r>
            <a:endParaRPr lang="el-GR" sz="1600" dirty="0">
              <a:latin typeface="Calibri" pitchFamily="34" charset="0"/>
            </a:endParaRPr>
          </a:p>
        </p:txBody>
      </p:sp>
      <p:sp>
        <p:nvSpPr>
          <p:cNvPr id="9" name="Title 1"/>
          <p:cNvSpPr>
            <a:spLocks/>
          </p:cNvSpPr>
          <p:nvPr/>
        </p:nvSpPr>
        <p:spPr bwMode="auto">
          <a:xfrm>
            <a:off x="314678" y="132715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1653851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65" name="Content Placeholder 2"/>
          <p:cNvSpPr>
            <a:spLocks/>
          </p:cNvSpPr>
          <p:nvPr/>
        </p:nvSpPr>
        <p:spPr bwMode="auto">
          <a:xfrm>
            <a:off x="533400" y="2590800"/>
            <a:ext cx="7543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A binary tree:</a:t>
            </a:r>
          </a:p>
          <a:p>
            <a:pPr marL="692150" lvl="1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Size 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O(n)</a:t>
            </a:r>
          </a:p>
          <a:p>
            <a:pPr marL="692150" lvl="1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Depth 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O(</a:t>
            </a:r>
            <a:r>
              <a:rPr lang="en-US" b="1" dirty="0" err="1">
                <a:solidFill>
                  <a:schemeClr val="accent2"/>
                </a:solidFill>
                <a:latin typeface="Calibri" pitchFamily="34" charset="0"/>
              </a:rPr>
              <a:t>logn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)</a:t>
            </a:r>
          </a:p>
          <a:p>
            <a:pPr marL="692150" lvl="1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Construction time 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O(</a:t>
            </a:r>
            <a:r>
              <a:rPr lang="en-US" b="1" dirty="0" err="1">
                <a:solidFill>
                  <a:schemeClr val="accent2"/>
                </a:solidFill>
                <a:latin typeface="Calibri" pitchFamily="34" charset="0"/>
              </a:rPr>
              <a:t>nlogn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)</a:t>
            </a:r>
          </a:p>
          <a:p>
            <a:pPr marL="692150" lvl="1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Query time: worst case 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O(n), </a:t>
            </a:r>
            <a:r>
              <a:rPr lang="en-US" dirty="0">
                <a:latin typeface="Calibri" pitchFamily="34" charset="0"/>
              </a:rPr>
              <a:t>but for many cases 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O(</a:t>
            </a:r>
            <a:r>
              <a:rPr lang="en-US" b="1" dirty="0" err="1">
                <a:solidFill>
                  <a:schemeClr val="accent2"/>
                </a:solidFill>
                <a:latin typeface="Calibri" pitchFamily="34" charset="0"/>
              </a:rPr>
              <a:t>logn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</a:rPr>
              <a:t>)</a:t>
            </a:r>
          </a:p>
        </p:txBody>
      </p:sp>
      <p:sp>
        <p:nvSpPr>
          <p:cNvPr id="3061766" name="Text Box 6"/>
          <p:cNvSpPr txBox="1">
            <a:spLocks noChangeArrowheads="1"/>
          </p:cNvSpPr>
          <p:nvPr/>
        </p:nvSpPr>
        <p:spPr bwMode="auto">
          <a:xfrm>
            <a:off x="533400" y="4753465"/>
            <a:ext cx="563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Generalizes to d dimensions</a:t>
            </a:r>
            <a:endParaRPr lang="el-GR" dirty="0">
              <a:latin typeface="Calibri" pitchFamily="34" charset="0"/>
            </a:endParaRPr>
          </a:p>
        </p:txBody>
      </p:sp>
      <p:sp>
        <p:nvSpPr>
          <p:cNvPr id="3061767" name="Text Box 7"/>
          <p:cNvSpPr txBox="1">
            <a:spLocks noChangeArrowheads="1"/>
          </p:cNvSpPr>
          <p:nvPr/>
        </p:nvSpPr>
        <p:spPr bwMode="auto">
          <a:xfrm>
            <a:off x="762000" y="5562600"/>
            <a:ext cx="586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 Example of</a:t>
            </a:r>
            <a:r>
              <a:rPr lang="el-GR" dirty="0">
                <a:solidFill>
                  <a:schemeClr val="tx2"/>
                </a:solidFill>
                <a:latin typeface="Calibri" pitchFamily="34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Binary Space Partitioning</a:t>
            </a:r>
            <a:endParaRPr lang="el-GR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1" name="Title 1"/>
          <p:cNvSpPr>
            <a:spLocks/>
          </p:cNvSpPr>
          <p:nvPr/>
        </p:nvSpPr>
        <p:spPr bwMode="auto">
          <a:xfrm>
            <a:off x="2426970" y="1524000"/>
            <a:ext cx="449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/>
          <a:p>
            <a:pPr algn="l"/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2-dimensional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kd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-trees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Nearest Neighbor Search</a:t>
            </a:r>
          </a:p>
        </p:txBody>
      </p:sp>
    </p:spTree>
    <p:extLst>
      <p:ext uri="{BB962C8B-B14F-4D97-AF65-F5344CB8AC3E}">
        <p14:creationId xmlns:p14="http://schemas.microsoft.com/office/powerpoint/2010/main" val="2479953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57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4419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2484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Find a linear hyperplane (decision boundary) that will separate the data</a:t>
            </a:r>
          </a:p>
        </p:txBody>
      </p:sp>
      <p:graphicFrame>
        <p:nvGraphicFramePr>
          <p:cNvPr id="1084420" name="Object 102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40978875"/>
              </p:ext>
            </p:extLst>
          </p:nvPr>
        </p:nvGraphicFramePr>
        <p:xfrm>
          <a:off x="2362200" y="150018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4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0018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5427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0960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One Possible Solution</a:t>
            </a:r>
          </a:p>
        </p:txBody>
      </p:sp>
      <p:graphicFrame>
        <p:nvGraphicFramePr>
          <p:cNvPr id="108544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13603234"/>
              </p:ext>
            </p:extLst>
          </p:nvPr>
        </p:nvGraphicFramePr>
        <p:xfrm>
          <a:off x="2416175" y="1493838"/>
          <a:ext cx="476885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8" name="Visio" r:id="rId3" imgW="7524090" imgH="7261824" progId="Visio.Drawing.11">
                  <p:embed/>
                </p:oleObj>
              </mc:Choice>
              <mc:Fallback>
                <p:oleObj name="Visio" r:id="rId3" imgW="7524090" imgH="726182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1493838"/>
                        <a:ext cx="476885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127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64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2484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Another possible solution</a:t>
            </a:r>
          </a:p>
        </p:txBody>
      </p:sp>
      <p:graphicFrame>
        <p:nvGraphicFramePr>
          <p:cNvPr id="108646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804117197"/>
              </p:ext>
            </p:extLst>
          </p:nvPr>
        </p:nvGraphicFramePr>
        <p:xfrm>
          <a:off x="2362200" y="149383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2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9383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9016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749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3246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Other possible solutions</a:t>
            </a:r>
          </a:p>
        </p:txBody>
      </p:sp>
      <p:graphicFrame>
        <p:nvGraphicFramePr>
          <p:cNvPr id="108749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17976331"/>
              </p:ext>
            </p:extLst>
          </p:nvPr>
        </p:nvGraphicFramePr>
        <p:xfrm>
          <a:off x="2362200" y="157003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6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7003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493" name="Line 5"/>
          <p:cNvSpPr>
            <a:spLocks noChangeShapeType="1"/>
          </p:cNvSpPr>
          <p:nvPr/>
        </p:nvSpPr>
        <p:spPr bwMode="auto">
          <a:xfrm>
            <a:off x="2667000" y="3200400"/>
            <a:ext cx="419100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4" name="Line 6"/>
          <p:cNvSpPr>
            <a:spLocks noChangeShapeType="1"/>
          </p:cNvSpPr>
          <p:nvPr/>
        </p:nvSpPr>
        <p:spPr bwMode="auto">
          <a:xfrm>
            <a:off x="2667000" y="2971800"/>
            <a:ext cx="419100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5" name="Line 7"/>
          <p:cNvSpPr>
            <a:spLocks noChangeShapeType="1"/>
          </p:cNvSpPr>
          <p:nvPr/>
        </p:nvSpPr>
        <p:spPr bwMode="auto">
          <a:xfrm>
            <a:off x="2667000" y="2590800"/>
            <a:ext cx="4191000" cy="2209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6" name="Line 8"/>
          <p:cNvSpPr>
            <a:spLocks noChangeShapeType="1"/>
          </p:cNvSpPr>
          <p:nvPr/>
        </p:nvSpPr>
        <p:spPr bwMode="auto">
          <a:xfrm>
            <a:off x="2667000" y="3048000"/>
            <a:ext cx="4191000" cy="1905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7" name="Line 9"/>
          <p:cNvSpPr>
            <a:spLocks noChangeShapeType="1"/>
          </p:cNvSpPr>
          <p:nvPr/>
        </p:nvSpPr>
        <p:spPr bwMode="auto">
          <a:xfrm>
            <a:off x="2667000" y="2819400"/>
            <a:ext cx="4191000" cy="16002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7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493" grpId="0" animBg="1"/>
      <p:bldP spid="1087494" grpId="0" animBg="1"/>
      <p:bldP spid="1087495" grpId="0" animBg="1"/>
      <p:bldP spid="1087496" grpId="0" animBg="1"/>
      <p:bldP spid="108749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885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5867400"/>
            <a:ext cx="8534400" cy="76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Which one is better? B1 or B2?</a:t>
            </a:r>
          </a:p>
          <a:p>
            <a:pPr>
              <a:lnSpc>
                <a:spcPct val="90000"/>
              </a:lnSpc>
            </a:pPr>
            <a:r>
              <a:rPr lang="en-US" sz="2000"/>
              <a:t>How do you define better?</a:t>
            </a:r>
          </a:p>
        </p:txBody>
      </p:sp>
      <p:graphicFrame>
        <p:nvGraphicFramePr>
          <p:cNvPr id="1088516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3575595"/>
              </p:ext>
            </p:extLst>
          </p:nvPr>
        </p:nvGraphicFramePr>
        <p:xfrm>
          <a:off x="2362200" y="142398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0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2398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21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895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1722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Find hyperplane </a:t>
            </a:r>
            <a:r>
              <a:rPr lang="en-US" sz="2000">
                <a:solidFill>
                  <a:srgbClr val="FF0000"/>
                </a:solidFill>
              </a:rPr>
              <a:t>maximizes</a:t>
            </a:r>
            <a:r>
              <a:rPr lang="en-US" sz="2000"/>
              <a:t> the margin =&gt; B1 is better than B2</a:t>
            </a:r>
          </a:p>
        </p:txBody>
      </p:sp>
      <p:graphicFrame>
        <p:nvGraphicFramePr>
          <p:cNvPr id="1089540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94866560"/>
              </p:ext>
            </p:extLst>
          </p:nvPr>
        </p:nvGraphicFramePr>
        <p:xfrm>
          <a:off x="2362200" y="142398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4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2398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4401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graphicFrame>
        <p:nvGraphicFramePr>
          <p:cNvPr id="1090563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30057906"/>
              </p:ext>
            </p:extLst>
          </p:nvPr>
        </p:nvGraphicFramePr>
        <p:xfrm>
          <a:off x="2362200" y="1371600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17" name="Visio" r:id="rId3" imgW="7432040" imgH="7017225" progId="Visio.Drawing.11">
                  <p:embed/>
                </p:oleObj>
              </mc:Choice>
              <mc:Fallback>
                <p:oleObj name="Visio" r:id="rId3" imgW="7432040" imgH="701722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371600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4" name="Line 4"/>
          <p:cNvSpPr>
            <a:spLocks noChangeShapeType="1"/>
          </p:cNvSpPr>
          <p:nvPr/>
        </p:nvSpPr>
        <p:spPr bwMode="auto">
          <a:xfrm flipH="1">
            <a:off x="1828800" y="2081212"/>
            <a:ext cx="1219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0565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69177"/>
              </p:ext>
            </p:extLst>
          </p:nvPr>
        </p:nvGraphicFramePr>
        <p:xfrm>
          <a:off x="304800" y="2767012"/>
          <a:ext cx="14351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18" name="Equation" r:id="rId5" imgW="799920" imgH="177480" progId="Equation.3">
                  <p:embed/>
                </p:oleObj>
              </mc:Choice>
              <mc:Fallback>
                <p:oleObj name="Equation" r:id="rId5" imgW="7999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67012"/>
                        <a:ext cx="14351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6" name="Line 6"/>
          <p:cNvSpPr>
            <a:spLocks noChangeShapeType="1"/>
          </p:cNvSpPr>
          <p:nvPr/>
        </p:nvSpPr>
        <p:spPr bwMode="auto">
          <a:xfrm flipH="1">
            <a:off x="1828800" y="2614612"/>
            <a:ext cx="1295400" cy="823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0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217249"/>
              </p:ext>
            </p:extLst>
          </p:nvPr>
        </p:nvGraphicFramePr>
        <p:xfrm>
          <a:off x="236538" y="3362325"/>
          <a:ext cx="15716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19" name="Equation" r:id="rId7" imgW="876240" imgH="177480" progId="Equation.3">
                  <p:embed/>
                </p:oleObj>
              </mc:Choice>
              <mc:Fallback>
                <p:oleObj name="Equation" r:id="rId7" imgW="876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3362325"/>
                        <a:ext cx="15716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8" name="Line 8"/>
          <p:cNvSpPr>
            <a:spLocks noChangeShapeType="1"/>
          </p:cNvSpPr>
          <p:nvPr/>
        </p:nvSpPr>
        <p:spPr bwMode="auto">
          <a:xfrm flipV="1">
            <a:off x="6324600" y="3681412"/>
            <a:ext cx="1219200" cy="776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05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868165"/>
              </p:ext>
            </p:extLst>
          </p:nvPr>
        </p:nvGraphicFramePr>
        <p:xfrm>
          <a:off x="7267575" y="3224212"/>
          <a:ext cx="157162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20" name="Equation" r:id="rId9" imgW="876240" imgH="177480" progId="Equation.3">
                  <p:embed/>
                </p:oleObj>
              </mc:Choice>
              <mc:Fallback>
                <p:oleObj name="Equation" r:id="rId9" imgW="876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3224212"/>
                        <a:ext cx="1571625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592982"/>
              </p:ext>
            </p:extLst>
          </p:nvPr>
        </p:nvGraphicFramePr>
        <p:xfrm>
          <a:off x="165100" y="5738812"/>
          <a:ext cx="39370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21" name="Equation" r:id="rId11" imgW="1879560" imgH="457200" progId="Equation.3">
                  <p:embed/>
                </p:oleObj>
              </mc:Choice>
              <mc:Fallback>
                <p:oleObj name="Equation" r:id="rId11" imgW="1879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5738812"/>
                        <a:ext cx="3937000" cy="8397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49322"/>
              </p:ext>
            </p:extLst>
          </p:nvPr>
        </p:nvGraphicFramePr>
        <p:xfrm>
          <a:off x="7050088" y="5751512"/>
          <a:ext cx="17986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22" name="Εξίσωση" r:id="rId13" imgW="1002960" imgH="419040" progId="Equation.3">
                  <p:embed/>
                </p:oleObj>
              </mc:Choice>
              <mc:Fallback>
                <p:oleObj name="Εξίσωση" r:id="rId13" imgW="1002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88" y="5751512"/>
                        <a:ext cx="1798637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79662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76800"/>
          </a:xfrm>
        </p:spPr>
        <p:txBody>
          <a:bodyPr/>
          <a:lstStyle/>
          <a:p>
            <a:r>
              <a:rPr lang="en-US" dirty="0"/>
              <a:t>We want to </a:t>
            </a:r>
            <a:r>
              <a:rPr lang="en-US" dirty="0">
                <a:solidFill>
                  <a:srgbClr val="0070C0"/>
                </a:solidFill>
              </a:rPr>
              <a:t>maximize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dirty="0"/>
              <a:t>Which is equivalent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minimizing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dirty="0"/>
              <a:t>But subjected to the following </a:t>
            </a:r>
            <a:r>
              <a:rPr lang="en-US" dirty="0">
                <a:solidFill>
                  <a:srgbClr val="0070C0"/>
                </a:solidFill>
              </a:rPr>
              <a:t>constraints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 This is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constrained optimization problem</a:t>
            </a:r>
          </a:p>
          <a:p>
            <a:pPr lvl="3"/>
            <a:r>
              <a:rPr lang="en-US" dirty="0"/>
              <a:t>Numerical approaches to solve it (e.g., </a:t>
            </a:r>
            <a:r>
              <a:rPr lang="en-US" dirty="0">
                <a:solidFill>
                  <a:srgbClr val="0070C0"/>
                </a:solidFill>
              </a:rPr>
              <a:t>quadratic programming</a:t>
            </a:r>
            <a:r>
              <a:rPr lang="en-US" dirty="0"/>
              <a:t>)</a:t>
            </a:r>
          </a:p>
        </p:txBody>
      </p:sp>
      <p:graphicFrame>
        <p:nvGraphicFramePr>
          <p:cNvPr id="1091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805225"/>
              </p:ext>
            </p:extLst>
          </p:nvPr>
        </p:nvGraphicFramePr>
        <p:xfrm>
          <a:off x="4191000" y="1524000"/>
          <a:ext cx="22860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8" name="Equation" r:id="rId3" imgW="1002960" imgH="419040" progId="Equation.3">
                  <p:embed/>
                </p:oleObj>
              </mc:Choice>
              <mc:Fallback>
                <p:oleObj name="Equation" r:id="rId3" imgW="1002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524000"/>
                        <a:ext cx="22860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1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182656"/>
              </p:ext>
            </p:extLst>
          </p:nvPr>
        </p:nvGraphicFramePr>
        <p:xfrm>
          <a:off x="5562600" y="2438400"/>
          <a:ext cx="19383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9" name="Equation" r:id="rId5" imgW="850680" imgH="419040" progId="Equation.3">
                  <p:embed/>
                </p:oleObj>
              </mc:Choice>
              <mc:Fallback>
                <p:oleObj name="Equation" r:id="rId5" imgW="850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438400"/>
                        <a:ext cx="193833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24200" y="4216959"/>
                <a:ext cx="361778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/>
                      </a:rPr>
                      <m:t>𝑏</m:t>
                    </m:r>
                    <m:r>
                      <a:rPr lang="en-US" sz="2400" b="0" i="1" smtClean="0">
                        <a:latin typeface="Cambria Math"/>
                      </a:rPr>
                      <m:t>≥1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400" i="1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</a:rPr>
                      <m:t>𝑏</m:t>
                    </m:r>
                    <m:r>
                      <a:rPr lang="en-US" sz="2400" i="1">
                        <a:latin typeface="Cambria Math"/>
                      </a:rPr>
                      <m:t>≤−1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216959"/>
                <a:ext cx="3617785" cy="830997"/>
              </a:xfrm>
              <a:prstGeom prst="rect">
                <a:avLst/>
              </a:prstGeom>
              <a:blipFill rotWithShape="1">
                <a:blip r:embed="rId7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658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the problem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linearly separable</a:t>
            </a:r>
            <a:r>
              <a:rPr lang="en-US" dirty="0"/>
              <a:t>?</a:t>
            </a:r>
          </a:p>
        </p:txBody>
      </p:sp>
      <p:graphicFrame>
        <p:nvGraphicFramePr>
          <p:cNvPr id="109261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5739070"/>
              </p:ext>
            </p:extLst>
          </p:nvPr>
        </p:nvGraphicFramePr>
        <p:xfrm>
          <a:off x="2209800" y="2247900"/>
          <a:ext cx="4724400" cy="44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8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47900"/>
                        <a:ext cx="4724400" cy="445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2613" name="Group 5"/>
          <p:cNvGrpSpPr>
            <a:grpSpLocks/>
          </p:cNvGrpSpPr>
          <p:nvPr/>
        </p:nvGrpSpPr>
        <p:grpSpPr bwMode="auto">
          <a:xfrm>
            <a:off x="2514600" y="2921000"/>
            <a:ext cx="4038600" cy="3124200"/>
            <a:chOff x="1584" y="1632"/>
            <a:chExt cx="2544" cy="1968"/>
          </a:xfrm>
        </p:grpSpPr>
        <p:sp>
          <p:nvSpPr>
            <p:cNvPr id="1092614" name="Oval 6"/>
            <p:cNvSpPr>
              <a:spLocks noChangeArrowheads="1"/>
            </p:cNvSpPr>
            <p:nvPr/>
          </p:nvSpPr>
          <p:spPr bwMode="auto">
            <a:xfrm>
              <a:off x="1584" y="1632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5" name="Oval 7"/>
            <p:cNvSpPr>
              <a:spLocks noChangeArrowheads="1"/>
            </p:cNvSpPr>
            <p:nvPr/>
          </p:nvSpPr>
          <p:spPr bwMode="auto">
            <a:xfrm>
              <a:off x="2304" y="2208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6" name="Oval 8"/>
            <p:cNvSpPr>
              <a:spLocks noChangeArrowheads="1"/>
            </p:cNvSpPr>
            <p:nvPr/>
          </p:nvSpPr>
          <p:spPr bwMode="auto">
            <a:xfrm>
              <a:off x="2208" y="168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7" name="Oval 9"/>
            <p:cNvSpPr>
              <a:spLocks noChangeArrowheads="1"/>
            </p:cNvSpPr>
            <p:nvPr/>
          </p:nvSpPr>
          <p:spPr bwMode="auto">
            <a:xfrm>
              <a:off x="2832" y="3264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8" name="Oval 10"/>
            <p:cNvSpPr>
              <a:spLocks noChangeArrowheads="1"/>
            </p:cNvSpPr>
            <p:nvPr/>
          </p:nvSpPr>
          <p:spPr bwMode="auto">
            <a:xfrm>
              <a:off x="3312" y="240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9" name="Oval 11"/>
            <p:cNvSpPr>
              <a:spLocks noChangeArrowheads="1"/>
            </p:cNvSpPr>
            <p:nvPr/>
          </p:nvSpPr>
          <p:spPr bwMode="auto">
            <a:xfrm>
              <a:off x="3792" y="2736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414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the problem is not linearly separable?</a:t>
            </a:r>
          </a:p>
        </p:txBody>
      </p:sp>
      <p:graphicFrame>
        <p:nvGraphicFramePr>
          <p:cNvPr id="109261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2844878"/>
              </p:ext>
            </p:extLst>
          </p:nvPr>
        </p:nvGraphicFramePr>
        <p:xfrm>
          <a:off x="2209800" y="2247900"/>
          <a:ext cx="4724400" cy="44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8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47900"/>
                        <a:ext cx="4724400" cy="445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2613" name="Group 5"/>
          <p:cNvGrpSpPr>
            <a:grpSpLocks/>
          </p:cNvGrpSpPr>
          <p:nvPr/>
        </p:nvGrpSpPr>
        <p:grpSpPr bwMode="auto">
          <a:xfrm>
            <a:off x="2514600" y="2921000"/>
            <a:ext cx="4038600" cy="3124200"/>
            <a:chOff x="1584" y="1632"/>
            <a:chExt cx="2544" cy="1968"/>
          </a:xfrm>
        </p:grpSpPr>
        <p:sp>
          <p:nvSpPr>
            <p:cNvPr id="1092614" name="Oval 6"/>
            <p:cNvSpPr>
              <a:spLocks noChangeArrowheads="1"/>
            </p:cNvSpPr>
            <p:nvPr/>
          </p:nvSpPr>
          <p:spPr bwMode="auto">
            <a:xfrm>
              <a:off x="1584" y="1632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5" name="Oval 7"/>
            <p:cNvSpPr>
              <a:spLocks noChangeArrowheads="1"/>
            </p:cNvSpPr>
            <p:nvPr/>
          </p:nvSpPr>
          <p:spPr bwMode="auto">
            <a:xfrm>
              <a:off x="2304" y="2208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6" name="Oval 8"/>
            <p:cNvSpPr>
              <a:spLocks noChangeArrowheads="1"/>
            </p:cNvSpPr>
            <p:nvPr/>
          </p:nvSpPr>
          <p:spPr bwMode="auto">
            <a:xfrm>
              <a:off x="2208" y="168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7" name="Oval 9"/>
            <p:cNvSpPr>
              <a:spLocks noChangeArrowheads="1"/>
            </p:cNvSpPr>
            <p:nvPr/>
          </p:nvSpPr>
          <p:spPr bwMode="auto">
            <a:xfrm>
              <a:off x="2832" y="3264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8" name="Oval 10"/>
            <p:cNvSpPr>
              <a:spLocks noChangeArrowheads="1"/>
            </p:cNvSpPr>
            <p:nvPr/>
          </p:nvSpPr>
          <p:spPr bwMode="auto">
            <a:xfrm>
              <a:off x="3312" y="240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9" name="Oval 11"/>
            <p:cNvSpPr>
              <a:spLocks noChangeArrowheads="1"/>
            </p:cNvSpPr>
            <p:nvPr/>
          </p:nvSpPr>
          <p:spPr bwMode="auto">
            <a:xfrm>
              <a:off x="3792" y="2736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2514600" y="3657600"/>
            <a:ext cx="3009900" cy="27432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87486" y="2463800"/>
            <a:ext cx="3009900" cy="27432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792436" y="4406900"/>
            <a:ext cx="732064" cy="8255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158468" y="4940300"/>
            <a:ext cx="1928132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116603" y="5029200"/>
                <a:ext cx="669607" cy="655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603" y="5029200"/>
                <a:ext cx="669607" cy="6555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377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r>
              <a:rPr lang="en-US" dirty="0"/>
              <a:t>What if the problem is not linearly separable?</a:t>
            </a:r>
          </a:p>
          <a:p>
            <a:pPr lvl="1"/>
            <a:r>
              <a:rPr lang="en-US" dirty="0"/>
              <a:t>Introduce slack variables</a:t>
            </a:r>
          </a:p>
          <a:p>
            <a:pPr lvl="2"/>
            <a:r>
              <a:rPr lang="en-US" dirty="0"/>
              <a:t> Need to minimize:</a:t>
            </a:r>
          </a:p>
          <a:p>
            <a:pPr lvl="2"/>
            <a:endParaRPr lang="en-US" dirty="0"/>
          </a:p>
          <a:p>
            <a:pPr marL="548640" lvl="2" indent="0">
              <a:buNone/>
            </a:pP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Subject to: </a:t>
            </a:r>
          </a:p>
        </p:txBody>
      </p:sp>
      <p:graphicFrame>
        <p:nvGraphicFramePr>
          <p:cNvPr id="10936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095737"/>
              </p:ext>
            </p:extLst>
          </p:nvPr>
        </p:nvGraphicFramePr>
        <p:xfrm>
          <a:off x="2286000" y="3200400"/>
          <a:ext cx="340754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23" name="Equation" r:id="rId3" imgW="1574640" imgH="457200" progId="Equation.3">
                  <p:embed/>
                </p:oleObj>
              </mc:Choice>
              <mc:Fallback>
                <p:oleObj name="Equation" r:id="rId3" imgW="1574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200400"/>
                        <a:ext cx="340754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3638" name="Oval 6"/>
          <p:cNvSpPr>
            <a:spLocks noChangeArrowheads="1"/>
          </p:cNvSpPr>
          <p:nvPr/>
        </p:nvSpPr>
        <p:spPr bwMode="auto">
          <a:xfrm>
            <a:off x="4093029" y="4806922"/>
            <a:ext cx="1143000" cy="5334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3639" name="Oval 7"/>
          <p:cNvSpPr>
            <a:spLocks noChangeArrowheads="1"/>
          </p:cNvSpPr>
          <p:nvPr/>
        </p:nvSpPr>
        <p:spPr bwMode="auto">
          <a:xfrm>
            <a:off x="4114800" y="5205858"/>
            <a:ext cx="1295400" cy="5334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77269" y="4760658"/>
                <a:ext cx="479503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</a:rPr>
                      <m:t>≥1−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2800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800" i="1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𝑏</m:t>
                    </m:r>
                    <m:r>
                      <a:rPr lang="en-US" sz="2800" i="1">
                        <a:latin typeface="Cambria Math"/>
                      </a:rPr>
                      <m:t>≤−1+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=−1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69" y="4760658"/>
                <a:ext cx="4795031" cy="954107"/>
              </a:xfrm>
              <a:prstGeom prst="rect">
                <a:avLst/>
              </a:prstGeom>
              <a:blipFill rotWithShape="1">
                <a:blip r:embed="rId5"/>
                <a:stretch>
                  <a:fillRect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721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Nonlinear Support Vector Machines</a:t>
            </a:r>
          </a:p>
        </p:txBody>
      </p:sp>
      <p:sp>
        <p:nvSpPr>
          <p:cNvPr id="109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decision boundary is not linear?</a:t>
            </a:r>
          </a:p>
        </p:txBody>
      </p:sp>
      <p:pic>
        <p:nvPicPr>
          <p:cNvPr id="1094660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2180631"/>
            <a:ext cx="6172200" cy="4629150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094661" name="Arc 5"/>
          <p:cNvSpPr>
            <a:spLocks/>
          </p:cNvSpPr>
          <p:nvPr/>
        </p:nvSpPr>
        <p:spPr bwMode="auto">
          <a:xfrm rot="13286533">
            <a:off x="3276600" y="3871319"/>
            <a:ext cx="3962400" cy="2176462"/>
          </a:xfrm>
          <a:custGeom>
            <a:avLst/>
            <a:gdLst>
              <a:gd name="G0" fmla="+- 0 0 0"/>
              <a:gd name="G1" fmla="+- 21486 0 0"/>
              <a:gd name="G2" fmla="+- 21600 0 0"/>
              <a:gd name="T0" fmla="*/ 2220 w 21600"/>
              <a:gd name="T1" fmla="*/ 0 h 42318"/>
              <a:gd name="T2" fmla="*/ 5710 w 21600"/>
              <a:gd name="T3" fmla="*/ 42318 h 42318"/>
              <a:gd name="T4" fmla="*/ 0 w 21600"/>
              <a:gd name="T5" fmla="*/ 21486 h 42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2318" fill="none" extrusionOk="0">
                <a:moveTo>
                  <a:pt x="2219" y="0"/>
                </a:moveTo>
                <a:cubicBezTo>
                  <a:pt x="13231" y="1138"/>
                  <a:pt x="21600" y="10416"/>
                  <a:pt x="21600" y="21486"/>
                </a:cubicBezTo>
                <a:cubicBezTo>
                  <a:pt x="21600" y="31216"/>
                  <a:pt x="15094" y="39745"/>
                  <a:pt x="5709" y="42317"/>
                </a:cubicBezTo>
              </a:path>
              <a:path w="21600" h="42318" stroke="0" extrusionOk="0">
                <a:moveTo>
                  <a:pt x="2219" y="0"/>
                </a:moveTo>
                <a:cubicBezTo>
                  <a:pt x="13231" y="1138"/>
                  <a:pt x="21600" y="10416"/>
                  <a:pt x="21600" y="21486"/>
                </a:cubicBezTo>
                <a:cubicBezTo>
                  <a:pt x="21600" y="31216"/>
                  <a:pt x="15094" y="39745"/>
                  <a:pt x="5709" y="42317"/>
                </a:cubicBezTo>
                <a:lnTo>
                  <a:pt x="0" y="21486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4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6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Nonlinear Support Vector Machines</a:t>
            </a:r>
          </a:p>
        </p:txBody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 data into higher dimensional space</a:t>
            </a:r>
          </a:p>
        </p:txBody>
      </p:sp>
      <p:pic>
        <p:nvPicPr>
          <p:cNvPr id="1095684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1981200"/>
            <a:ext cx="6172200" cy="4629150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3429000"/>
            <a:ext cx="226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Use the </a:t>
            </a:r>
            <a:r>
              <a:rPr lang="en-US" dirty="0">
                <a:solidFill>
                  <a:srgbClr val="C00000"/>
                </a:solidFill>
              </a:rPr>
              <a:t>Kernel Trick</a:t>
            </a:r>
          </a:p>
        </p:txBody>
      </p:sp>
    </p:spTree>
    <p:extLst>
      <p:ext uri="{BB962C8B-B14F-4D97-AF65-F5344CB8AC3E}">
        <p14:creationId xmlns:p14="http://schemas.microsoft.com/office/powerpoint/2010/main" val="278124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98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via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predicting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</a:t>
            </a:r>
            <a:r>
              <a:rPr lang="en-US" dirty="0"/>
              <a:t> of an record we want to </a:t>
            </a:r>
            <a:r>
              <a:rPr lang="en-US" dirty="0">
                <a:solidFill>
                  <a:srgbClr val="0070C0"/>
                </a:solidFill>
              </a:rPr>
              <a:t>predict the probability of the class </a:t>
            </a:r>
            <a:r>
              <a:rPr lang="en-US" dirty="0"/>
              <a:t>given the record</a:t>
            </a:r>
          </a:p>
          <a:p>
            <a:r>
              <a:rPr lang="en-US" dirty="0"/>
              <a:t>The problem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predicting continuous values </a:t>
            </a:r>
            <a:r>
              <a:rPr lang="en-US" dirty="0"/>
              <a:t>is called </a:t>
            </a:r>
            <a:r>
              <a:rPr lang="en-US" dirty="0">
                <a:solidFill>
                  <a:srgbClr val="0070C0"/>
                </a:solidFill>
              </a:rPr>
              <a:t>regression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problem</a:t>
            </a:r>
          </a:p>
          <a:p>
            <a:r>
              <a:rPr lang="en-US" dirty="0"/>
              <a:t>General approach: find a continuous function that models the continuous points.</a:t>
            </a:r>
          </a:p>
        </p:txBody>
      </p:sp>
    </p:spTree>
    <p:extLst>
      <p:ext uri="{BB962C8B-B14F-4D97-AF65-F5344CB8AC3E}">
        <p14:creationId xmlns:p14="http://schemas.microsoft.com/office/powerpoint/2010/main" val="282313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regression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514600"/>
            <a:ext cx="3810000" cy="25146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85800" y="1676400"/>
                <a:ext cx="4267200" cy="471830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Given a dataset of the form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) 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find a linear function that given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predicts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Find a vector of weights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𝑤</m:t>
                    </m:r>
                  </m:oMath>
                </a14:m>
                <a:r>
                  <a:rPr lang="en-US" dirty="0"/>
                  <a:t> that minimizes the sum of square errors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Several techniques for solving the problem.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85800" y="1676400"/>
                <a:ext cx="4267200" cy="4718304"/>
              </a:xfrm>
              <a:blipFill rotWithShape="1">
                <a:blip r:embed="rId3"/>
                <a:stretch>
                  <a:fillRect l="-1714" t="-2067" b="-2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4098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via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a linear classification boundary</a:t>
            </a: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6782299"/>
              </p:ext>
            </p:extLst>
          </p:nvPr>
        </p:nvGraphicFramePr>
        <p:xfrm>
          <a:off x="4419600" y="2057400"/>
          <a:ext cx="4876800" cy="460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8" name="Visio" r:id="rId3" imgW="7524090" imgH="7261824" progId="Visio.Drawing.11">
                  <p:embed/>
                </p:oleObj>
              </mc:Choice>
              <mc:Fallback>
                <p:oleObj name="Visio" r:id="rId3" imgW="7524090" imgH="7261824" progId="Visio.Drawing.11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4876800" cy="460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5083465" y="2895600"/>
            <a:ext cx="326735" cy="3658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24400" y="3288268"/>
                <a:ext cx="115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288268"/>
                <a:ext cx="115377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53200" y="3657600"/>
            <a:ext cx="3810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15200" y="1828800"/>
                <a:ext cx="115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828800"/>
                <a:ext cx="115377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6743700" y="2198132"/>
            <a:ext cx="952500" cy="621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42966" y="6400800"/>
                <a:ext cx="115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966" y="6400800"/>
                <a:ext cx="11537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endCxn id="14" idx="3"/>
          </p:cNvCxnSpPr>
          <p:nvPr/>
        </p:nvCxnSpPr>
        <p:spPr>
          <a:xfrm flipH="1">
            <a:off x="6596743" y="6096000"/>
            <a:ext cx="623208" cy="489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85800" y="2107317"/>
                <a:ext cx="3733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the positive class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bigger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, </a:t>
                </a:r>
                <a:r>
                  <a:rPr lang="en-US" dirty="0"/>
                  <a:t>the further the point is from the classification boundary, the higher our </a:t>
                </a:r>
                <a:r>
                  <a:rPr lang="en-US" dirty="0">
                    <a:solidFill>
                      <a:srgbClr val="FF0000"/>
                    </a:solidFill>
                  </a:rPr>
                  <a:t>certainty</a:t>
                </a:r>
                <a:r>
                  <a:rPr lang="en-US" dirty="0"/>
                  <a:t> for the membership to the </a:t>
                </a:r>
                <a:r>
                  <a:rPr lang="en-US" dirty="0">
                    <a:solidFill>
                      <a:srgbClr val="0070C0"/>
                    </a:solidFill>
                  </a:rPr>
                  <a:t>positive class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0" dirty="0"/>
                  <a:t>Define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|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as an </a:t>
                </a:r>
                <a:r>
                  <a:rPr lang="en-US" dirty="0">
                    <a:solidFill>
                      <a:srgbClr val="FF0000"/>
                    </a:solidFill>
                  </a:rPr>
                  <a:t>increasing</a:t>
                </a:r>
                <a:r>
                  <a:rPr lang="en-US" dirty="0"/>
                  <a:t>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07317"/>
                <a:ext cx="3733800" cy="2308324"/>
              </a:xfrm>
              <a:prstGeom prst="rect">
                <a:avLst/>
              </a:prstGeom>
              <a:blipFill rotWithShape="1">
                <a:blip r:embed="rId8"/>
                <a:stretch>
                  <a:fillRect l="-1471" t="-1323" r="-1144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87829" y="4424801"/>
                <a:ext cx="3733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the negative class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smaller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, the further the point is from the classification boundary, the higher our </a:t>
                </a:r>
                <a:r>
                  <a:rPr lang="en-US" dirty="0">
                    <a:solidFill>
                      <a:srgbClr val="FF0000"/>
                    </a:solidFill>
                  </a:rPr>
                  <a:t>certainty</a:t>
                </a:r>
                <a:r>
                  <a:rPr lang="en-US" dirty="0"/>
                  <a:t> for the membership to the </a:t>
                </a:r>
                <a:r>
                  <a:rPr lang="en-US" dirty="0">
                    <a:solidFill>
                      <a:srgbClr val="0070C0"/>
                    </a:solidFill>
                  </a:rPr>
                  <a:t>negative class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|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as a </a:t>
                </a:r>
                <a:r>
                  <a:rPr lang="en-US" dirty="0">
                    <a:solidFill>
                      <a:srgbClr val="FF0000"/>
                    </a:solidFill>
                  </a:rPr>
                  <a:t>decreasing</a:t>
                </a:r>
                <a:r>
                  <a:rPr lang="en-US" dirty="0"/>
                  <a:t> function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4424801"/>
                <a:ext cx="3733800" cy="2308324"/>
              </a:xfrm>
              <a:prstGeom prst="rect">
                <a:avLst/>
              </a:prstGeom>
              <a:blipFill rotWithShape="1">
                <a:blip r:embed="rId9"/>
                <a:stretch>
                  <a:fillRect l="-1305" t="-1319" r="-2610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795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76400"/>
            <a:ext cx="5257800" cy="3505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2668" y="2209800"/>
                <a:ext cx="274320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68" y="2209800"/>
                <a:ext cx="2743200" cy="7862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1849" y="3124200"/>
                <a:ext cx="365760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+</m:t>
                              </m:r>
                            </m:sub>
                          </m:sSub>
                        </m: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49" y="3124200"/>
                <a:ext cx="3657600" cy="7862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4038600"/>
                <a:ext cx="3657600" cy="803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</m:sub>
                          </m:sSub>
                        </m: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038600"/>
                <a:ext cx="3657600" cy="8034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2541" y="5033193"/>
                <a:ext cx="3657600" cy="869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𝑤</m:t>
                      </m:r>
                      <m:r>
                        <a:rPr lang="en-US" sz="2400" b="0" i="1" smtClean="0">
                          <a:latin typeface="Cambria Math"/>
                        </a:rPr>
                        <m:t>⋅</m:t>
                      </m:r>
                      <m:r>
                        <a:rPr lang="en-US" sz="2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41" y="5033193"/>
                <a:ext cx="3657600" cy="86953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495800" y="5506919"/>
                <a:ext cx="4572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Logistic Regression</a:t>
                </a:r>
                <a:r>
                  <a:rPr lang="en-US" sz="2400" dirty="0"/>
                  <a:t>: Find the vector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𝑤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that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maximizes the probability</a:t>
                </a:r>
                <a:r>
                  <a:rPr lang="en-US" sz="2400" dirty="0"/>
                  <a:t> of the observed data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506919"/>
                <a:ext cx="4572000" cy="1200329"/>
              </a:xfrm>
              <a:prstGeom prst="rect">
                <a:avLst/>
              </a:prstGeom>
              <a:blipFill rotWithShape="1">
                <a:blip r:embed="rId7"/>
                <a:stretch>
                  <a:fillRect l="-2133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25605" y="1630453"/>
            <a:ext cx="2906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logistic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182768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regression on the </a:t>
            </a:r>
            <a:r>
              <a:rPr lang="en-US" dirty="0">
                <a:solidFill>
                  <a:srgbClr val="0070C0"/>
                </a:solidFill>
              </a:rPr>
              <a:t>log-odds ratio</a:t>
            </a:r>
          </a:p>
        </p:txBody>
      </p:sp>
    </p:spTree>
    <p:extLst>
      <p:ext uri="{BB962C8B-B14F-4D97-AF65-F5344CB8AC3E}">
        <p14:creationId xmlns:p14="http://schemas.microsoft.com/office/powerpoint/2010/main" val="146029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probability estimate </a:t>
            </a:r>
            <a:r>
              <a:rPr lang="en-US" dirty="0"/>
              <a:t>for the </a:t>
            </a:r>
            <a:r>
              <a:rPr lang="en-US" dirty="0">
                <a:solidFill>
                  <a:srgbClr val="0070C0"/>
                </a:solidFill>
              </a:rPr>
              <a:t>class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membership</a:t>
            </a:r>
            <a:r>
              <a:rPr lang="en-US" dirty="0"/>
              <a:t> which is often very useful.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weights</a:t>
            </a:r>
            <a:r>
              <a:rPr lang="en-US" dirty="0"/>
              <a:t> can be useful for understanding the </a:t>
            </a:r>
            <a:r>
              <a:rPr lang="en-US" dirty="0">
                <a:solidFill>
                  <a:srgbClr val="0070C0"/>
                </a:solidFill>
              </a:rPr>
              <a:t>feature importance</a:t>
            </a:r>
            <a:r>
              <a:rPr lang="en-US" dirty="0"/>
              <a:t>.</a:t>
            </a:r>
          </a:p>
          <a:p>
            <a:r>
              <a:rPr lang="en-US" dirty="0"/>
              <a:t>Works for relatively large datasets</a:t>
            </a:r>
          </a:p>
          <a:p>
            <a:r>
              <a:rPr lang="en-US" dirty="0"/>
              <a:t>Fast to apply.</a:t>
            </a:r>
          </a:p>
        </p:txBody>
      </p:sp>
    </p:spTree>
    <p:extLst>
      <p:ext uri="{BB962C8B-B14F-4D97-AF65-F5344CB8AC3E}">
        <p14:creationId xmlns:p14="http://schemas.microsoft.com/office/powerpoint/2010/main" val="3087617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CLASSIFIER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66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 Classifier</a:t>
            </a:r>
          </a:p>
        </p:txBody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probabilistic framework for solving classification problems</a:t>
            </a:r>
          </a:p>
          <a:p>
            <a:r>
              <a:rPr lang="en-US" b="1" dirty="0">
                <a:solidFill>
                  <a:schemeClr val="accent2"/>
                </a:solidFill>
              </a:rPr>
              <a:t>A, C </a:t>
            </a:r>
            <a:r>
              <a:rPr lang="en-US" dirty="0"/>
              <a:t>random variables</a:t>
            </a:r>
          </a:p>
          <a:p>
            <a:r>
              <a:rPr lang="en-US" dirty="0">
                <a:solidFill>
                  <a:srgbClr val="0070C0"/>
                </a:solidFill>
              </a:rPr>
              <a:t>Joint</a:t>
            </a:r>
            <a:r>
              <a:rPr lang="en-US" dirty="0"/>
              <a:t> probability: </a:t>
            </a:r>
            <a:r>
              <a:rPr lang="en-US" b="1" dirty="0" err="1">
                <a:solidFill>
                  <a:schemeClr val="accent2"/>
                </a:solidFill>
              </a:rPr>
              <a:t>Pr</a:t>
            </a:r>
            <a:r>
              <a:rPr lang="en-US" b="1" dirty="0">
                <a:solidFill>
                  <a:schemeClr val="accent2"/>
                </a:solidFill>
              </a:rPr>
              <a:t>(A=</a:t>
            </a:r>
            <a:r>
              <a:rPr lang="en-US" b="1" dirty="0" err="1">
                <a:solidFill>
                  <a:schemeClr val="accent2"/>
                </a:solidFill>
              </a:rPr>
              <a:t>a,C</a:t>
            </a:r>
            <a:r>
              <a:rPr lang="en-US" b="1" dirty="0">
                <a:solidFill>
                  <a:schemeClr val="accent2"/>
                </a:solidFill>
              </a:rPr>
              <a:t>=c)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Conditional</a:t>
            </a:r>
            <a:r>
              <a:rPr lang="en-US" dirty="0"/>
              <a:t> probability: </a:t>
            </a:r>
            <a:r>
              <a:rPr lang="en-US" b="1" dirty="0" err="1">
                <a:solidFill>
                  <a:schemeClr val="accent2"/>
                </a:solidFill>
              </a:rPr>
              <a:t>Pr</a:t>
            </a:r>
            <a:r>
              <a:rPr lang="en-US" b="1" dirty="0">
                <a:solidFill>
                  <a:schemeClr val="accent2"/>
                </a:solidFill>
              </a:rPr>
              <a:t>(C=c | A=a)</a:t>
            </a:r>
          </a:p>
          <a:p>
            <a:r>
              <a:rPr lang="en-US" dirty="0"/>
              <a:t>Relationship between joint and conditional probability distributions</a:t>
            </a:r>
          </a:p>
          <a:p>
            <a:endParaRPr lang="en-US" dirty="0"/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Bayes Theorem</a:t>
            </a:r>
            <a:r>
              <a:rPr lang="en-US" dirty="0"/>
              <a:t>:</a:t>
            </a:r>
          </a:p>
        </p:txBody>
      </p:sp>
      <p:graphicFrame>
        <p:nvGraphicFramePr>
          <p:cNvPr id="1067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231778"/>
              </p:ext>
            </p:extLst>
          </p:nvPr>
        </p:nvGraphicFramePr>
        <p:xfrm>
          <a:off x="4038600" y="5638800"/>
          <a:ext cx="3581400" cy="933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2" name="Equation" r:id="rId3" imgW="3022560" imgH="787320" progId="Equation.3">
                  <p:embed/>
                </p:oleObj>
              </mc:Choice>
              <mc:Fallback>
                <p:oleObj name="Equation" r:id="rId3" imgW="302256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638800"/>
                        <a:ext cx="3581400" cy="933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748139"/>
              </p:ext>
            </p:extLst>
          </p:nvPr>
        </p:nvGraphicFramePr>
        <p:xfrm>
          <a:off x="1295400" y="4800600"/>
          <a:ext cx="6457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3" name="Εξίσωση" r:id="rId5" imgW="2869920" imgH="203040" progId="Equation.3">
                  <p:embed/>
                </p:oleObj>
              </mc:Choice>
              <mc:Fallback>
                <p:oleObj name="Εξίσωση" r:id="rId5" imgW="2869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00600"/>
                        <a:ext cx="6457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9776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Classifiers</a:t>
            </a:r>
          </a:p>
        </p:txBody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105400"/>
          </a:xfrm>
        </p:spPr>
        <p:txBody>
          <a:bodyPr/>
          <a:lstStyle/>
          <a:p>
            <a:r>
              <a:rPr lang="en-US" dirty="0"/>
              <a:t>Consider each attribute and class label as random variables</a:t>
            </a:r>
          </a:p>
          <a:p>
            <a:pPr lvl="1"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660038"/>
              </p:ext>
            </p:extLst>
          </p:nvPr>
        </p:nvGraphicFramePr>
        <p:xfrm>
          <a:off x="228600" y="2582862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3" name="VISIO" r:id="rId3" imgW="4392168" imgH="5334000" progId="Visio.Drawing.11">
                  <p:embed/>
                </p:oleObj>
              </mc:Choice>
              <mc:Fallback>
                <p:oleObj name="VISIO" r:id="rId3" imgW="4392168" imgH="53340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582862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75471" y="2378750"/>
            <a:ext cx="2535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Evade C </a:t>
            </a:r>
          </a:p>
          <a:p>
            <a:r>
              <a:rPr lang="en-US" dirty="0"/>
              <a:t>Event space: {Yes, No}</a:t>
            </a:r>
          </a:p>
          <a:p>
            <a:r>
              <a:rPr lang="en-US" dirty="0">
                <a:solidFill>
                  <a:srgbClr val="0070C0"/>
                </a:solidFill>
              </a:rPr>
              <a:t>P(C) = (0.3, 0.7)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5471" y="3390416"/>
            <a:ext cx="2535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Refund 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Event space: {Yes, No}</a:t>
            </a:r>
          </a:p>
          <a:p>
            <a:r>
              <a:rPr lang="en-US" dirty="0">
                <a:solidFill>
                  <a:srgbClr val="0070C0"/>
                </a:solidFill>
              </a:rPr>
              <a:t>P(A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) = (0.3,0.7)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5471" y="4497110"/>
            <a:ext cx="4326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Martial Status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en-US" dirty="0"/>
              <a:t>Event space: {Single, Married, Divorced}</a:t>
            </a:r>
          </a:p>
          <a:p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 err="1">
                <a:solidFill>
                  <a:srgbClr val="0070C0"/>
                </a:solidFill>
              </a:rPr>
              <a:t>A</a:t>
            </a:r>
            <a:r>
              <a:rPr lang="en-US" baseline="-25000" dirty="0" err="1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) = (0.4,0.4,0.2)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5471" y="5723930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Taxable Income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en-US" dirty="0"/>
              <a:t>Event space: R</a:t>
            </a:r>
          </a:p>
          <a:p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 err="1">
                <a:solidFill>
                  <a:srgbClr val="0070C0"/>
                </a:solidFill>
              </a:rPr>
              <a:t>A</a:t>
            </a:r>
            <a:r>
              <a:rPr lang="en-US" baseline="-25000" dirty="0" err="1">
                <a:solidFill>
                  <a:srgbClr val="0070C0"/>
                </a:solidFill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) ~ Normal(</a:t>
            </a:r>
            <a:r>
              <a:rPr lang="en-US" dirty="0">
                <a:solidFill>
                  <a:srgbClr val="0070C0"/>
                </a:solidFill>
                <a:sym typeface="Symbol"/>
              </a:rPr>
              <a:t>,)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602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29600" cy="990600"/>
          </a:xfrm>
        </p:spPr>
        <p:txBody>
          <a:bodyPr/>
          <a:lstStyle/>
          <a:p>
            <a:r>
              <a:rPr lang="en-US" dirty="0"/>
              <a:t>Bayesian Classifiers</a:t>
            </a:r>
          </a:p>
        </p:txBody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5105400"/>
          </a:xfrm>
        </p:spPr>
        <p:txBody>
          <a:bodyPr/>
          <a:lstStyle/>
          <a:p>
            <a:r>
              <a:rPr lang="en-US" dirty="0"/>
              <a:t>Given a record </a:t>
            </a:r>
            <a:r>
              <a:rPr lang="en-US" dirty="0">
                <a:solidFill>
                  <a:srgbClr val="0070C0"/>
                </a:solidFill>
              </a:rPr>
              <a:t>X</a:t>
            </a:r>
            <a:r>
              <a:rPr lang="en-US" dirty="0"/>
              <a:t> over attributes </a:t>
            </a:r>
            <a:r>
              <a:rPr lang="en-US" dirty="0">
                <a:solidFill>
                  <a:srgbClr val="0070C0"/>
                </a:solidFill>
              </a:rPr>
              <a:t>(A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A</a:t>
            </a:r>
            <a:r>
              <a:rPr lang="en-US" baseline="-25000" dirty="0" err="1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,…,A</a:t>
            </a:r>
            <a:r>
              <a:rPr lang="en-US" baseline="-25000" dirty="0">
                <a:solidFill>
                  <a:srgbClr val="0070C0"/>
                </a:solidFill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) 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70C0"/>
                </a:solidFill>
              </a:rPr>
              <a:t>X = (‘Yes’, ‘Single’, </a:t>
            </a:r>
            <a:r>
              <a:rPr lang="en-US" dirty="0" err="1">
                <a:solidFill>
                  <a:srgbClr val="0070C0"/>
                </a:solidFill>
              </a:rPr>
              <a:t>125K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  <a:p>
            <a:r>
              <a:rPr lang="en-US" dirty="0"/>
              <a:t>The goal is to predict class </a:t>
            </a:r>
            <a:r>
              <a:rPr lang="en-US" dirty="0">
                <a:solidFill>
                  <a:srgbClr val="FF0000"/>
                </a:solidFill>
              </a:rPr>
              <a:t>C</a:t>
            </a:r>
          </a:p>
          <a:p>
            <a:pPr lvl="1"/>
            <a:r>
              <a:rPr lang="en-US" dirty="0"/>
              <a:t>Specifically, we want to find the value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 that maximizes </a:t>
            </a:r>
            <a:r>
              <a:rPr lang="en-US" dirty="0">
                <a:solidFill>
                  <a:srgbClr val="0070C0"/>
                </a:solidFill>
              </a:rPr>
              <a:t>P(C=c| X)</a:t>
            </a:r>
          </a:p>
          <a:p>
            <a:pPr lvl="2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Maximum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Aposteriori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Probability </a:t>
            </a:r>
            <a:r>
              <a:rPr lang="en-US" dirty="0"/>
              <a:t>estimate</a:t>
            </a:r>
          </a:p>
          <a:p>
            <a:pPr lvl="1"/>
            <a:endParaRPr lang="en-US" dirty="0"/>
          </a:p>
          <a:p>
            <a:r>
              <a:rPr lang="en-US" dirty="0"/>
              <a:t>Can we estimate </a:t>
            </a:r>
            <a:r>
              <a:rPr lang="en-US" dirty="0">
                <a:solidFill>
                  <a:srgbClr val="0070C0"/>
                </a:solidFill>
              </a:rPr>
              <a:t>P(C| X) </a:t>
            </a:r>
            <a:r>
              <a:rPr lang="en-US" dirty="0"/>
              <a:t>directly from data?</a:t>
            </a:r>
          </a:p>
          <a:p>
            <a:pPr lvl="1"/>
            <a:r>
              <a:rPr lang="en-US" dirty="0"/>
              <a:t>This means that we estimate the probability for all possible values of the class variable.</a:t>
            </a:r>
          </a:p>
        </p:txBody>
      </p:sp>
    </p:spTree>
    <p:extLst>
      <p:ext uri="{BB962C8B-B14F-4D97-AF65-F5344CB8AC3E}">
        <p14:creationId xmlns:p14="http://schemas.microsoft.com/office/powerpoint/2010/main" val="18034295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Classifiers</a:t>
            </a:r>
          </a:p>
        </p:txBody>
      </p:sp>
      <p:sp>
        <p:nvSpPr>
          <p:cNvPr id="107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524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Approach: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compute the posterior probability </a:t>
            </a:r>
            <a:r>
              <a:rPr lang="en-US" sz="2400" dirty="0">
                <a:solidFill>
                  <a:srgbClr val="0070C0"/>
                </a:solidFill>
              </a:rPr>
              <a:t>P(C | A</a:t>
            </a:r>
            <a:r>
              <a:rPr lang="en-US" sz="2400" baseline="-25000" dirty="0">
                <a:solidFill>
                  <a:srgbClr val="0070C0"/>
                </a:solidFill>
              </a:rPr>
              <a:t>1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r>
              <a:rPr lang="en-US" sz="2400" baseline="-25000" dirty="0" err="1">
                <a:solidFill>
                  <a:srgbClr val="0070C0"/>
                </a:solidFill>
              </a:rPr>
              <a:t>2</a:t>
            </a:r>
            <a:r>
              <a:rPr lang="en-US" sz="2400" dirty="0">
                <a:solidFill>
                  <a:srgbClr val="0070C0"/>
                </a:solidFill>
              </a:rPr>
              <a:t>, …, A</a:t>
            </a:r>
            <a:r>
              <a:rPr lang="en-US" sz="2400" baseline="-25000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  <a:r>
              <a:rPr lang="en-US" sz="2400" dirty="0"/>
              <a:t>for all values of </a:t>
            </a:r>
            <a:r>
              <a:rPr lang="en-US" sz="2400" dirty="0">
                <a:solidFill>
                  <a:srgbClr val="0070C0"/>
                </a:solidFill>
              </a:rPr>
              <a:t>C</a:t>
            </a:r>
            <a:r>
              <a:rPr lang="en-US" sz="2400" dirty="0"/>
              <a:t> using the Bayes theorem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Choose value of C that maximizes 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dirty="0">
                <a:solidFill>
                  <a:srgbClr val="0070C0"/>
                </a:solidFill>
              </a:rPr>
              <a:t>P(C | A</a:t>
            </a:r>
            <a:r>
              <a:rPr lang="en-US" sz="2400" baseline="-25000" dirty="0">
                <a:solidFill>
                  <a:srgbClr val="0070C0"/>
                </a:solidFill>
              </a:rPr>
              <a:t>1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r>
              <a:rPr lang="en-US" sz="2400" baseline="-25000" dirty="0" err="1">
                <a:solidFill>
                  <a:srgbClr val="0070C0"/>
                </a:solidFill>
              </a:rPr>
              <a:t>2</a:t>
            </a:r>
            <a:r>
              <a:rPr lang="en-US" sz="2400" dirty="0">
                <a:solidFill>
                  <a:srgbClr val="0070C0"/>
                </a:solidFill>
              </a:rPr>
              <a:t>, …, A</a:t>
            </a:r>
            <a:r>
              <a:rPr lang="en-US" sz="2400" baseline="-25000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br>
              <a:rPr lang="en-US" sz="2400" dirty="0"/>
            </a:b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Equivalent to choosing value of C that maximizes</a:t>
            </a:r>
            <a:br>
              <a:rPr lang="en-US" sz="2400" dirty="0"/>
            </a:br>
            <a:r>
              <a:rPr lang="en-US" sz="2400" dirty="0"/>
              <a:t>       	</a:t>
            </a:r>
            <a:r>
              <a:rPr lang="en-US" sz="2400" dirty="0">
                <a:solidFill>
                  <a:srgbClr val="0070C0"/>
                </a:solidFill>
              </a:rPr>
              <a:t>P(A</a:t>
            </a:r>
            <a:r>
              <a:rPr lang="en-US" sz="2400" baseline="-25000" dirty="0">
                <a:solidFill>
                  <a:srgbClr val="0070C0"/>
                </a:solidFill>
              </a:rPr>
              <a:t>1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r>
              <a:rPr lang="en-US" sz="2400" baseline="-25000" dirty="0" err="1">
                <a:solidFill>
                  <a:srgbClr val="0070C0"/>
                </a:solidFill>
              </a:rPr>
              <a:t>2</a:t>
            </a:r>
            <a:r>
              <a:rPr lang="en-US" sz="2400" dirty="0">
                <a:solidFill>
                  <a:srgbClr val="0070C0"/>
                </a:solidFill>
              </a:rPr>
              <a:t>, …,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r>
              <a:rPr lang="en-US" sz="2400" baseline="-25000" dirty="0" err="1">
                <a:solidFill>
                  <a:srgbClr val="0070C0"/>
                </a:solidFill>
              </a:rPr>
              <a:t>n</a:t>
            </a:r>
            <a:r>
              <a:rPr lang="en-US" sz="2400" dirty="0" err="1">
                <a:solidFill>
                  <a:srgbClr val="0070C0"/>
                </a:solidFill>
              </a:rPr>
              <a:t>|C</a:t>
            </a:r>
            <a:r>
              <a:rPr lang="en-US" sz="2400" dirty="0">
                <a:solidFill>
                  <a:srgbClr val="0070C0"/>
                </a:solidFill>
              </a:rPr>
              <a:t>) P(C)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How to estimate </a:t>
            </a:r>
            <a:r>
              <a:rPr lang="en-US" sz="2400" dirty="0">
                <a:solidFill>
                  <a:srgbClr val="0070C0"/>
                </a:solidFill>
              </a:rPr>
              <a:t>P(A</a:t>
            </a:r>
            <a:r>
              <a:rPr lang="en-US" sz="2400" baseline="-25000" dirty="0">
                <a:solidFill>
                  <a:srgbClr val="0070C0"/>
                </a:solidFill>
              </a:rPr>
              <a:t>1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A</a:t>
            </a:r>
            <a:r>
              <a:rPr lang="en-US" sz="2400" baseline="-25000" dirty="0" err="1">
                <a:solidFill>
                  <a:srgbClr val="0070C0"/>
                </a:solidFill>
              </a:rPr>
              <a:t>2</a:t>
            </a:r>
            <a:r>
              <a:rPr lang="en-US" sz="2400" dirty="0">
                <a:solidFill>
                  <a:srgbClr val="0070C0"/>
                </a:solidFill>
              </a:rPr>
              <a:t>, …, A</a:t>
            </a:r>
            <a:r>
              <a:rPr lang="en-US" sz="2400" baseline="-25000" dirty="0">
                <a:solidFill>
                  <a:srgbClr val="0070C0"/>
                </a:solidFill>
              </a:rPr>
              <a:t>n </a:t>
            </a:r>
            <a:r>
              <a:rPr lang="en-US" sz="2400" dirty="0">
                <a:solidFill>
                  <a:srgbClr val="0070C0"/>
                </a:solidFill>
              </a:rPr>
              <a:t>| C )?</a:t>
            </a:r>
          </a:p>
        </p:txBody>
      </p:sp>
      <p:graphicFrame>
        <p:nvGraphicFramePr>
          <p:cNvPr id="1070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278406"/>
              </p:ext>
            </p:extLst>
          </p:nvPr>
        </p:nvGraphicFramePr>
        <p:xfrm>
          <a:off x="1828800" y="2860675"/>
          <a:ext cx="57912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7" name="Εξίσωση" r:id="rId3" imgW="4863960" imgH="799920" progId="Equation.3">
                  <p:embed/>
                </p:oleObj>
              </mc:Choice>
              <mc:Fallback>
                <p:oleObj name="Εξίσωση" r:id="rId3" imgW="4863960" imgH="799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60675"/>
                        <a:ext cx="5791200" cy="79692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1459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110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Assume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independence</a:t>
                </a:r>
                <a:r>
                  <a:rPr lang="en-US" sz="2400" dirty="0"/>
                  <a:t> among attributes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A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i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when class is given: 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|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𝐶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)= </m:t>
                    </m:r>
                    <m:r>
                      <a:rPr lang="en-US" sz="2400" i="1" dirty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|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𝐶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) </m:t>
                    </m:r>
                    <m:r>
                      <a:rPr lang="en-US" sz="2400" i="1" dirty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⋯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|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𝐶</m:t>
                    </m:r>
                    <m:r>
                      <a:rPr lang="en-US" sz="24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can estimate </a:t>
                </a:r>
                <a:r>
                  <a:rPr lang="en-US" sz="2400" dirty="0">
                    <a:solidFill>
                      <a:srgbClr val="00B0F0"/>
                    </a:solidFill>
                  </a:rPr>
                  <a:t>P(A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i</a:t>
                </a:r>
                <a:r>
                  <a:rPr lang="en-US" sz="2400" dirty="0">
                    <a:solidFill>
                      <a:srgbClr val="00B0F0"/>
                    </a:solidFill>
                  </a:rPr>
                  <a:t>| C) </a:t>
                </a:r>
                <a:r>
                  <a:rPr lang="en-US" sz="2400" dirty="0"/>
                  <a:t>for all values of </a:t>
                </a:r>
                <a:r>
                  <a:rPr lang="en-US" sz="2400" dirty="0">
                    <a:solidFill>
                      <a:srgbClr val="00B0F0"/>
                    </a:solidFill>
                  </a:rPr>
                  <a:t>A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i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rgbClr val="00B0F0"/>
                    </a:solidFill>
                  </a:rPr>
                  <a:t>C.</a:t>
                </a:r>
              </a:p>
              <a:p>
                <a:pPr lvl="1">
                  <a:buFont typeface="Arial" charset="0"/>
                  <a:buNone/>
                </a:pPr>
                <a:endParaRPr lang="en-US" sz="2400" dirty="0"/>
              </a:p>
              <a:p>
                <a:pPr lvl="1"/>
                <a:r>
                  <a:rPr lang="en-US" sz="2400" dirty="0"/>
                  <a:t>New point </a:t>
                </a:r>
                <a:r>
                  <a:rPr lang="en-US" sz="2400" dirty="0">
                    <a:solidFill>
                      <a:srgbClr val="00B0F0"/>
                    </a:solidFill>
                  </a:rPr>
                  <a:t>X</a:t>
                </a:r>
                <a:r>
                  <a:rPr lang="en-US" sz="2400" dirty="0"/>
                  <a:t> is classified to class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sz="2400" dirty="0">
                    <a:solidFill>
                      <a:srgbClr val="00B0F0"/>
                    </a:solidFill>
                  </a:rPr>
                  <a:t> </a:t>
                </a:r>
                <a:r>
                  <a:rPr lang="en-US" sz="2400" dirty="0"/>
                  <a:t>if </a:t>
                </a:r>
              </a:p>
              <a:p>
                <a:pPr marL="274320" lvl="1" indent="0">
                  <a:buNone/>
                </a:pPr>
                <a:r>
                  <a:rPr lang="en-US" b="0" dirty="0">
                    <a:solidFill>
                      <a:srgbClr val="00B0F0"/>
                    </a:solidFill>
                  </a:rPr>
                  <a:t> 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𝐶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𝐶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e>
                    </m:d>
                    <m:nary>
                      <m:naryPr>
                        <m:chr m:val="∏"/>
                        <m:supHide m:val="on"/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is maximum over all possible values of </a:t>
                </a:r>
                <a:r>
                  <a:rPr lang="en-US" sz="2400" dirty="0">
                    <a:solidFill>
                      <a:srgbClr val="00B0F0"/>
                    </a:solidFill>
                  </a:rPr>
                  <a:t>C</a:t>
                </a:r>
                <a:r>
                  <a:rPr lang="en-US" sz="2400" dirty="0"/>
                  <a:t>.</a:t>
                </a:r>
                <a:endParaRPr lang="en-US" dirty="0"/>
              </a:p>
              <a:p>
                <a:pPr>
                  <a:buFont typeface="Monotype Sorts" pitchFamily="2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71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146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Class Prior Probability</a:t>
                </a:r>
                <a:r>
                  <a:rPr lang="en-US" dirty="0"/>
                  <a:t>: 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000" dirty="0"/>
                  <a:t>  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000" dirty="0"/>
                  <a:t> e.g.,  </a:t>
                </a:r>
                <a:r>
                  <a:rPr lang="en-US" sz="2000" dirty="0">
                    <a:solidFill>
                      <a:srgbClr val="00B0F0"/>
                    </a:solidFill>
                  </a:rPr>
                  <a:t>P(C = No) = 7/10,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000" dirty="0">
                    <a:solidFill>
                      <a:srgbClr val="00B0F0"/>
                    </a:solidFill>
                  </a:rPr>
                  <a:t>          P(C = Yes) = 3/10</a:t>
                </a:r>
              </a:p>
              <a:p>
                <a:pPr lvl="1">
                  <a:lnSpc>
                    <a:spcPct val="90000"/>
                  </a:lnSpc>
                  <a:buFont typeface="Arial" charset="0"/>
                  <a:buNone/>
                </a:pPr>
                <a:endParaRPr lang="en-US" sz="2000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For discrete attributes:</a:t>
                </a:r>
                <a:endParaRPr lang="en-US" sz="90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is number of instances having attribute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and</a:t>
                </a:r>
                <a:r>
                  <a:rPr lang="en-US" sz="2400" dirty="0"/>
                  <a:t> belongs to class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400" dirty="0">
                  <a:solidFill>
                    <a:srgbClr val="00B0F0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2400" dirty="0"/>
                  <a:t>Examples:</a:t>
                </a:r>
                <a:br>
                  <a:rPr lang="en-US" sz="2400" dirty="0"/>
                </a:br>
                <a:endParaRPr lang="en-US" sz="800" dirty="0"/>
              </a:p>
              <a:p>
                <a:pPr lvl="1">
                  <a:lnSpc>
                    <a:spcPct val="90000"/>
                  </a:lnSpc>
                  <a:buFont typeface="Arial" charset="0"/>
                  <a:buNone/>
                </a:pPr>
                <a:r>
                  <a:rPr lang="en-US" sz="2000" dirty="0"/>
                  <a:t>	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P(Status=</a:t>
                </a:r>
                <a:r>
                  <a:rPr lang="en-US" sz="2000" dirty="0" err="1">
                    <a:solidFill>
                      <a:schemeClr val="accent6">
                        <a:lumMod val="75000"/>
                      </a:schemeClr>
                    </a:solidFill>
                  </a:rPr>
                  <a:t>Married|No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) = 4/7</a:t>
                </a:r>
                <a:br>
                  <a:rPr lang="en-US" sz="2000" baseline="-250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P(Refund=</a:t>
                </a:r>
                <a:r>
                  <a:rPr lang="en-US" sz="2000" dirty="0" err="1">
                    <a:solidFill>
                      <a:schemeClr val="accent6">
                        <a:lumMod val="75000"/>
                      </a:schemeClr>
                    </a:solidFill>
                  </a:rPr>
                  <a:t>Yes|Yes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)=0</a:t>
                </a:r>
                <a:endParaRPr lang="en-US" sz="2000" baseline="-25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  <a:blipFill rotWithShape="1">
                <a:blip r:embed="rId3"/>
                <a:stretch>
                  <a:fillRect l="-2133" t="-2824" b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811375"/>
              </p:ext>
            </p:extLst>
          </p:nvPr>
        </p:nvGraphicFramePr>
        <p:xfrm>
          <a:off x="152400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2" name="VISIO" r:id="rId4" imgW="4390200" imgH="5341320" progId="Visio.Drawing.11">
                  <p:embed/>
                </p:oleObj>
              </mc:Choice>
              <mc:Fallback>
                <p:oleObj name="VISIO" r:id="rId4" imgW="4390200" imgH="53413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152400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2722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6868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Estimate Probabilities from Data?</a:t>
            </a:r>
          </a:p>
        </p:txBody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continuous</a:t>
            </a:r>
            <a:r>
              <a:rPr lang="en-US" dirty="0"/>
              <a:t> attributes: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Discretize</a:t>
            </a:r>
            <a:r>
              <a:rPr lang="en-US" dirty="0"/>
              <a:t> the range into bins 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one ordinal attribute per bin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violates independence assumption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Two-way split:</a:t>
            </a:r>
            <a:r>
              <a:rPr lang="en-US" dirty="0"/>
              <a:t>  (A &lt; v) or (A &gt; v)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choose only one of the two splits as new attribute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Probability density estimation: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Assume attribute follows a </a:t>
            </a:r>
            <a:r>
              <a:rPr lang="en-US" dirty="0">
                <a:solidFill>
                  <a:srgbClr val="00B0F0"/>
                </a:solidFill>
              </a:rPr>
              <a:t>normal distribution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Use data to estimate parameters of distribution </a:t>
            </a:r>
            <a:br>
              <a:rPr lang="en-US" dirty="0"/>
            </a:br>
            <a:r>
              <a:rPr lang="en-US" dirty="0"/>
              <a:t>   (i.e.,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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standard deviation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</a:t>
            </a:r>
            <a:r>
              <a:rPr lang="en-US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Once probability distribution is known, we can use it to estimate the conditional probability </a:t>
            </a:r>
            <a:r>
              <a:rPr lang="en-US" dirty="0">
                <a:solidFill>
                  <a:srgbClr val="00B0F0"/>
                </a:solidFill>
              </a:rPr>
              <a:t>P(</a:t>
            </a:r>
            <a:r>
              <a:rPr lang="en-US" dirty="0" err="1">
                <a:solidFill>
                  <a:srgbClr val="00B0F0"/>
                </a:solidFill>
              </a:rPr>
              <a:t>A</a:t>
            </a:r>
            <a:r>
              <a:rPr lang="en-US" baseline="-25000" dirty="0" err="1">
                <a:solidFill>
                  <a:srgbClr val="00B0F0"/>
                </a:solidFill>
              </a:rPr>
              <a:t>i</a:t>
            </a:r>
            <a:r>
              <a:rPr lang="en-US" dirty="0" err="1">
                <a:solidFill>
                  <a:srgbClr val="00B0F0"/>
                </a:solidFill>
              </a:rPr>
              <a:t>|c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05985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Estimate Probabilities from Data?</a:t>
            </a:r>
          </a:p>
        </p:txBody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800" y="1306512"/>
            <a:ext cx="4419600" cy="5181600"/>
          </a:xfrm>
        </p:spPr>
        <p:txBody>
          <a:bodyPr/>
          <a:lstStyle/>
          <a:p>
            <a:r>
              <a:rPr lang="en-US" sz="2400" dirty="0"/>
              <a:t>Normal distribution: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1000" dirty="0"/>
          </a:p>
          <a:p>
            <a:pPr lvl="1"/>
            <a:r>
              <a:rPr lang="en-US" sz="2400" dirty="0"/>
              <a:t>One for each (</a:t>
            </a:r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r>
              <a:rPr lang="en-US" sz="2400" dirty="0" err="1"/>
              <a:t>,c</a:t>
            </a:r>
            <a:r>
              <a:rPr lang="en-US" sz="2400" baseline="-25000" dirty="0" err="1"/>
              <a:t>i</a:t>
            </a:r>
            <a:r>
              <a:rPr lang="en-US" sz="2400" dirty="0"/>
              <a:t>) pair</a:t>
            </a:r>
          </a:p>
          <a:p>
            <a:pPr lvl="1"/>
            <a:endParaRPr lang="en-US" sz="800" dirty="0"/>
          </a:p>
          <a:p>
            <a:r>
              <a:rPr lang="en-US" sz="2400" dirty="0"/>
              <a:t>For (Income, Class=No):</a:t>
            </a:r>
          </a:p>
          <a:p>
            <a:pPr lvl="1"/>
            <a:r>
              <a:rPr lang="en-US" sz="2400" dirty="0"/>
              <a:t>If Class=No</a:t>
            </a:r>
          </a:p>
          <a:p>
            <a:pPr lvl="2"/>
            <a:r>
              <a:rPr lang="en-US" sz="2000" dirty="0"/>
              <a:t> sample mean = 110</a:t>
            </a:r>
          </a:p>
          <a:p>
            <a:pPr lvl="2"/>
            <a:r>
              <a:rPr lang="en-US" sz="2000" dirty="0"/>
              <a:t> sample variance = 2975</a:t>
            </a:r>
          </a:p>
          <a:p>
            <a:pPr lvl="1">
              <a:buFont typeface="Arial" charset="0"/>
              <a:buNone/>
            </a:pPr>
            <a:endParaRPr lang="en-US" sz="2400" dirty="0"/>
          </a:p>
        </p:txBody>
      </p:sp>
      <p:graphicFrame>
        <p:nvGraphicFramePr>
          <p:cNvPr id="107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078745"/>
              </p:ext>
            </p:extLst>
          </p:nvPr>
        </p:nvGraphicFramePr>
        <p:xfrm>
          <a:off x="304800" y="1382712"/>
          <a:ext cx="4195763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4" name="VISIO" r:id="rId3" imgW="4390200" imgH="5341320" progId="Visio.Drawing.6">
                  <p:embed/>
                </p:oleObj>
              </mc:Choice>
              <mc:Fallback>
                <p:oleObj name="VISIO" r:id="rId3" imgW="4390200" imgH="5341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304800" y="1382712"/>
                        <a:ext cx="4195763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745795"/>
              </p:ext>
            </p:extLst>
          </p:nvPr>
        </p:nvGraphicFramePr>
        <p:xfrm>
          <a:off x="5695950" y="1839913"/>
          <a:ext cx="26162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5" name="Εξίσωση" r:id="rId5" imgW="1955520" imgH="609480" progId="Equation.3">
                  <p:embed/>
                </p:oleObj>
              </mc:Choice>
              <mc:Fallback>
                <p:oleObj name="Εξίσωση" r:id="rId5" imgW="195552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1839913"/>
                        <a:ext cx="26162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075406"/>
              </p:ext>
            </p:extLst>
          </p:nvPr>
        </p:nvGraphicFramePr>
        <p:xfrm>
          <a:off x="1905000" y="5715000"/>
          <a:ext cx="6781800" cy="840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6" name="Equation" r:id="rId7" imgW="6349680" imgH="787320" progId="Equation.3">
                  <p:embed/>
                </p:oleObj>
              </mc:Choice>
              <mc:Fallback>
                <p:oleObj name="Equation" r:id="rId7" imgW="634968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715000"/>
                        <a:ext cx="6781800" cy="840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3201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Naïve Bayes Classifier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19200"/>
          </a:xfrm>
        </p:spPr>
        <p:txBody>
          <a:bodyPr/>
          <a:lstStyle/>
          <a:p>
            <a:r>
              <a:rPr lang="en-US" dirty="0"/>
              <a:t>Creating a Naïve Bayes Classifier, essentially means to compute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counts</a:t>
            </a:r>
            <a:r>
              <a:rPr lang="en-US" dirty="0"/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773395"/>
            <a:ext cx="3422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number of records: </a:t>
            </a:r>
            <a:r>
              <a:rPr lang="en-US" dirty="0">
                <a:solidFill>
                  <a:srgbClr val="0070C0"/>
                </a:solidFill>
              </a:rPr>
              <a:t>N =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33" y="3276600"/>
            <a:ext cx="2621230" cy="341632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Class No</a:t>
            </a:r>
            <a:r>
              <a:rPr lang="en-US" dirty="0"/>
              <a:t>:</a:t>
            </a:r>
          </a:p>
          <a:p>
            <a:r>
              <a:rPr lang="en-US" dirty="0"/>
              <a:t>Number of records: 7</a:t>
            </a:r>
          </a:p>
          <a:p>
            <a:r>
              <a:rPr lang="en-US" dirty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Yes: 3 </a:t>
            </a:r>
          </a:p>
          <a:p>
            <a:r>
              <a:rPr lang="en-US" dirty="0"/>
              <a:t>	No:  4</a:t>
            </a:r>
          </a:p>
          <a:p>
            <a:r>
              <a:rPr lang="en-US" dirty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Single:     2</a:t>
            </a:r>
          </a:p>
          <a:p>
            <a:r>
              <a:rPr lang="en-US" dirty="0"/>
              <a:t>	Divorced: 1</a:t>
            </a:r>
          </a:p>
          <a:p>
            <a:r>
              <a:rPr lang="en-US" dirty="0"/>
              <a:t>	Married:   4</a:t>
            </a:r>
          </a:p>
          <a:p>
            <a:r>
              <a:rPr lang="en-US" dirty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mean:     110</a:t>
            </a:r>
          </a:p>
          <a:p>
            <a:r>
              <a:rPr lang="en-US" dirty="0"/>
              <a:t>	variance: 2975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276600"/>
            <a:ext cx="2621230" cy="341632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 Yes</a:t>
            </a:r>
            <a:r>
              <a:rPr lang="en-US" dirty="0"/>
              <a:t>:</a:t>
            </a:r>
          </a:p>
          <a:p>
            <a:r>
              <a:rPr lang="en-US" dirty="0"/>
              <a:t>Number of records: 3</a:t>
            </a:r>
          </a:p>
          <a:p>
            <a:r>
              <a:rPr lang="en-US" dirty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Yes: 0 </a:t>
            </a:r>
          </a:p>
          <a:p>
            <a:r>
              <a:rPr lang="en-US" dirty="0"/>
              <a:t>	No:  3</a:t>
            </a:r>
          </a:p>
          <a:p>
            <a:r>
              <a:rPr lang="en-US" dirty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Single:     2</a:t>
            </a:r>
          </a:p>
          <a:p>
            <a:r>
              <a:rPr lang="en-US" dirty="0"/>
              <a:t>	Divorced: 1</a:t>
            </a:r>
          </a:p>
          <a:p>
            <a:r>
              <a:rPr lang="en-US" dirty="0"/>
              <a:t>	Married:   0</a:t>
            </a:r>
          </a:p>
          <a:p>
            <a:r>
              <a:rPr lang="en-US" dirty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mean:     90</a:t>
            </a:r>
          </a:p>
          <a:p>
            <a:r>
              <a:rPr lang="en-US" dirty="0"/>
              <a:t>	variance: 25</a:t>
            </a:r>
          </a:p>
        </p:txBody>
      </p:sp>
    </p:spTree>
    <p:extLst>
      <p:ext uri="{BB962C8B-B14F-4D97-AF65-F5344CB8AC3E}">
        <p14:creationId xmlns:p14="http://schemas.microsoft.com/office/powerpoint/2010/main" val="35757388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Naïve Bayes Classifier</a:t>
            </a:r>
          </a:p>
        </p:txBody>
      </p:sp>
      <p:graphicFrame>
        <p:nvGraphicFramePr>
          <p:cNvPr id="1075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174622"/>
              </p:ext>
            </p:extLst>
          </p:nvPr>
        </p:nvGraphicFramePr>
        <p:xfrm>
          <a:off x="0" y="2362200"/>
          <a:ext cx="38862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9" name="Visio" r:id="rId3" imgW="9070380" imgH="5536811" progId="Visio.Drawing.11">
                  <p:embed/>
                </p:oleObj>
              </mc:Choice>
              <mc:Fallback>
                <p:oleObj name="Visio" r:id="rId3" imgW="9070380" imgH="55368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0" y="2362200"/>
                        <a:ext cx="3886200" cy="427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86721"/>
              </p:ext>
            </p:extLst>
          </p:nvPr>
        </p:nvGraphicFramePr>
        <p:xfrm>
          <a:off x="1371600" y="1814513"/>
          <a:ext cx="5562600" cy="35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0" name="Equation" r:id="rId5" imgW="5448240" imgH="342720" progId="Equation.3">
                  <p:embed/>
                </p:oleObj>
              </mc:Choice>
              <mc:Fallback>
                <p:oleObj name="Equation" r:id="rId5" imgW="54482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14513"/>
                        <a:ext cx="5562600" cy="350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3733800" y="28194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rgbClr val="0070C0"/>
                </a:solidFill>
              </a:rPr>
              <a:t>P(</a:t>
            </a:r>
            <a:r>
              <a:rPr lang="en-US" sz="1600" b="0" dirty="0" err="1">
                <a:solidFill>
                  <a:srgbClr val="0070C0"/>
                </a:solidFill>
              </a:rPr>
              <a:t>X|Class</a:t>
            </a:r>
            <a:r>
              <a:rPr lang="en-US" sz="1600" b="0" dirty="0">
                <a:solidFill>
                  <a:srgbClr val="0070C0"/>
                </a:solidFill>
              </a:rPr>
              <a:t>=No) = P(Refund=</a:t>
            </a:r>
            <a:r>
              <a:rPr lang="en-US" sz="1600" b="0" dirty="0" err="1">
                <a:solidFill>
                  <a:srgbClr val="0070C0"/>
                </a:solidFill>
              </a:rPr>
              <a:t>No|Class</a:t>
            </a:r>
            <a:r>
              <a:rPr lang="en-US" sz="1600" b="0" dirty="0">
                <a:solidFill>
                  <a:srgbClr val="0070C0"/>
                </a:solidFill>
              </a:rPr>
              <a:t>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rgbClr val="0070C0"/>
                </a:solidFill>
              </a:rPr>
              <a:t>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rgbClr val="0070C0"/>
                </a:solidFill>
              </a:rPr>
              <a:t> P(Income=</a:t>
            </a:r>
            <a:r>
              <a:rPr lang="en-US" sz="1600" b="0" dirty="0" err="1">
                <a:solidFill>
                  <a:srgbClr val="0070C0"/>
                </a:solidFill>
              </a:rPr>
              <a:t>120K</a:t>
            </a:r>
            <a:r>
              <a:rPr lang="en-US" sz="1600" b="0" dirty="0">
                <a:solidFill>
                  <a:srgbClr val="0070C0"/>
                </a:solidFill>
              </a:rPr>
              <a:t>| 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              = 4/7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4/7  0.0072 =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0.0024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X|Class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=Yes) = P(Refund=No|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P(Income=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120K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	               = 1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0  1.2  10</a:t>
            </a:r>
            <a:r>
              <a:rPr lang="en-US" sz="1600" b="0" baseline="30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-9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 =</a:t>
            </a:r>
            <a:r>
              <a:rPr lang="en-US" sz="1600" b="0" dirty="0">
                <a:sym typeface="Symbol" pitchFamily="18" charset="2"/>
              </a:rPr>
              <a:t>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>
                <a:solidFill>
                  <a:srgbClr val="0070C0"/>
                </a:solidFill>
              </a:rPr>
              <a:t>P(No) = 0.3</a:t>
            </a:r>
            <a:r>
              <a:rPr lang="en-US" sz="1800" b="0" dirty="0"/>
              <a:t>,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P(Yes) = 0.7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Since P(</a:t>
            </a:r>
            <a:r>
              <a:rPr lang="en-US" sz="1800" b="0" dirty="0" err="1"/>
              <a:t>X|No</a:t>
            </a:r>
            <a:r>
              <a:rPr lang="en-US" sz="1800" b="0" dirty="0"/>
              <a:t>)P(No) &gt; P(</a:t>
            </a:r>
            <a:r>
              <a:rPr lang="en-US" sz="1800" b="0" dirty="0" err="1"/>
              <a:t>X|Yes</a:t>
            </a:r>
            <a:r>
              <a:rPr lang="en-US" sz="1800" b="0" dirty="0"/>
              <a:t>)P(Yes)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Therefore P(</a:t>
            </a:r>
            <a:r>
              <a:rPr lang="en-US" sz="1800" b="0" dirty="0" err="1"/>
              <a:t>No|X</a:t>
            </a:r>
            <a:r>
              <a:rPr lang="en-US" sz="1800" b="0" dirty="0"/>
              <a:t>) &gt; P(</a:t>
            </a:r>
            <a:r>
              <a:rPr lang="en-US" sz="1800" b="0" dirty="0" err="1"/>
              <a:t>Yes|X</a:t>
            </a:r>
            <a:r>
              <a:rPr lang="en-US" sz="1800" b="0" dirty="0"/>
              <a:t>)</a:t>
            </a:r>
            <a:br>
              <a:rPr lang="en-US" sz="1800" b="0" dirty="0"/>
            </a:br>
            <a:r>
              <a:rPr lang="en-US" sz="1800" b="0" dirty="0"/>
              <a:t>      </a:t>
            </a:r>
            <a:r>
              <a:rPr lang="en-US" sz="2000" b="0" dirty="0">
                <a:sym typeface="Symbol" pitchFamily="18" charset="2"/>
              </a:rPr>
              <a:t>=&gt; </a:t>
            </a:r>
            <a:r>
              <a:rPr lang="en-US" sz="2000" b="0" dirty="0">
                <a:solidFill>
                  <a:srgbClr val="FF0000"/>
                </a:solidFill>
                <a:sym typeface="Symbol" pitchFamily="18" charset="2"/>
              </a:rPr>
              <a:t>Class = No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228600" y="14478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</p:spTree>
    <p:extLst>
      <p:ext uri="{BB962C8B-B14F-4D97-AF65-F5344CB8AC3E}">
        <p14:creationId xmlns:p14="http://schemas.microsoft.com/office/powerpoint/2010/main" val="29975953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 Classifier</a:t>
            </a:r>
          </a:p>
        </p:txBody>
      </p:sp>
      <p:sp>
        <p:nvSpPr>
          <p:cNvPr id="107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98637"/>
            <a:ext cx="8229600" cy="4876800"/>
          </a:xfrm>
        </p:spPr>
        <p:txBody>
          <a:bodyPr/>
          <a:lstStyle/>
          <a:p>
            <a:r>
              <a:rPr lang="en-US" dirty="0"/>
              <a:t>If one of the conditional probability is </a:t>
            </a:r>
            <a:r>
              <a:rPr lang="en-US" dirty="0">
                <a:solidFill>
                  <a:srgbClr val="0070C0"/>
                </a:solidFill>
              </a:rPr>
              <a:t>zero</a:t>
            </a:r>
            <a:r>
              <a:rPr lang="en-US" dirty="0"/>
              <a:t>, then the entire expression becomes zero</a:t>
            </a:r>
          </a:p>
          <a:p>
            <a:r>
              <a:rPr lang="en-US" dirty="0"/>
              <a:t>Probability estimation:</a:t>
            </a:r>
          </a:p>
          <a:p>
            <a:pPr lvl="1"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1076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187504"/>
              </p:ext>
            </p:extLst>
          </p:nvPr>
        </p:nvGraphicFramePr>
        <p:xfrm>
          <a:off x="446088" y="3340100"/>
          <a:ext cx="5280025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8" name="Εξίσωση" r:id="rId3" imgW="2577960" imgH="1333440" progId="Equation.3">
                  <p:embed/>
                </p:oleObj>
              </mc:Choice>
              <mc:Fallback>
                <p:oleObj name="Εξίσωση" r:id="rId3" imgW="2577960" imgH="1333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3340100"/>
                        <a:ext cx="5280025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229" name="Text Box 5"/>
          <p:cNvSpPr txBox="1">
            <a:spLocks noChangeArrowheads="1"/>
          </p:cNvSpPr>
          <p:nvPr/>
        </p:nvSpPr>
        <p:spPr bwMode="auto">
          <a:xfrm>
            <a:off x="6019800" y="3733800"/>
            <a:ext cx="27432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0" dirty="0">
                <a:latin typeface="Times New Roman" charset="0"/>
              </a:rPr>
              <a:t>N</a:t>
            </a:r>
            <a:r>
              <a:rPr lang="en-US" sz="2000" b="0" baseline="-25000" dirty="0">
                <a:latin typeface="Times New Roman" charset="0"/>
              </a:rPr>
              <a:t>i</a:t>
            </a:r>
            <a:r>
              <a:rPr lang="en-US" sz="2000" b="0" dirty="0">
                <a:latin typeface="Times New Roman" charset="0"/>
              </a:rPr>
              <a:t>: number of attribute values for attribute A</a:t>
            </a:r>
            <a:r>
              <a:rPr lang="en-US" sz="2000" b="0" baseline="-25000" dirty="0">
                <a:latin typeface="Times New Roman" charset="0"/>
              </a:rPr>
              <a:t>i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latin typeface="Times New Roman" charset="0"/>
              </a:rPr>
              <a:t>p: prior probability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latin typeface="Times New Roman" charset="0"/>
              </a:rPr>
              <a:t>m: parameter</a:t>
            </a:r>
          </a:p>
        </p:txBody>
      </p:sp>
    </p:spTree>
    <p:extLst>
      <p:ext uri="{BB962C8B-B14F-4D97-AF65-F5344CB8AC3E}">
        <p14:creationId xmlns:p14="http://schemas.microsoft.com/office/powerpoint/2010/main" val="14023875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Naïve Bayes Classifier</a:t>
            </a:r>
          </a:p>
        </p:txBody>
      </p:sp>
      <p:graphicFrame>
        <p:nvGraphicFramePr>
          <p:cNvPr id="1075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684821"/>
              </p:ext>
            </p:extLst>
          </p:nvPr>
        </p:nvGraphicFramePr>
        <p:xfrm>
          <a:off x="0" y="2362200"/>
          <a:ext cx="38862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6" name="Visio" r:id="rId3" imgW="9070380" imgH="5536811" progId="Visio.Drawing.11">
                  <p:embed/>
                </p:oleObj>
              </mc:Choice>
              <mc:Fallback>
                <p:oleObj name="Visio" r:id="rId3" imgW="9070380" imgH="55368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0" y="2362200"/>
                        <a:ext cx="3886200" cy="427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488217"/>
              </p:ext>
            </p:extLst>
          </p:nvPr>
        </p:nvGraphicFramePr>
        <p:xfrm>
          <a:off x="1371600" y="1814513"/>
          <a:ext cx="5562600" cy="35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7" name="Equation" r:id="rId5" imgW="5448240" imgH="342720" progId="Equation.3">
                  <p:embed/>
                </p:oleObj>
              </mc:Choice>
              <mc:Fallback>
                <p:oleObj name="Equation" r:id="rId5" imgW="54482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14513"/>
                        <a:ext cx="5562600" cy="350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3733800" y="28194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rgbClr val="0070C0"/>
                </a:solidFill>
              </a:rPr>
              <a:t>P(</a:t>
            </a:r>
            <a:r>
              <a:rPr lang="en-US" sz="1600" b="0" dirty="0" err="1">
                <a:solidFill>
                  <a:srgbClr val="0070C0"/>
                </a:solidFill>
              </a:rPr>
              <a:t>X|Class</a:t>
            </a:r>
            <a:r>
              <a:rPr lang="en-US" sz="1600" b="0" dirty="0">
                <a:solidFill>
                  <a:srgbClr val="0070C0"/>
                </a:solidFill>
              </a:rPr>
              <a:t>=No) = P(Refund=</a:t>
            </a:r>
            <a:r>
              <a:rPr lang="en-US" sz="1600" b="0" dirty="0" err="1">
                <a:solidFill>
                  <a:srgbClr val="0070C0"/>
                </a:solidFill>
              </a:rPr>
              <a:t>No|Class</a:t>
            </a:r>
            <a:r>
              <a:rPr lang="en-US" sz="1600" b="0" dirty="0">
                <a:solidFill>
                  <a:srgbClr val="0070C0"/>
                </a:solidFill>
              </a:rPr>
              <a:t>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rgbClr val="0070C0"/>
                </a:solidFill>
              </a:rPr>
              <a:t>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rgbClr val="0070C0"/>
                </a:solidFill>
              </a:rPr>
              <a:t> P(Income=</a:t>
            </a:r>
            <a:r>
              <a:rPr lang="en-US" sz="1600" b="0" dirty="0" err="1">
                <a:solidFill>
                  <a:srgbClr val="0070C0"/>
                </a:solidFill>
              </a:rPr>
              <a:t>120K</a:t>
            </a:r>
            <a:r>
              <a:rPr lang="en-US" sz="1600" b="0" dirty="0">
                <a:solidFill>
                  <a:srgbClr val="0070C0"/>
                </a:solidFill>
              </a:rPr>
              <a:t>| 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              = </a:t>
            </a:r>
            <a:r>
              <a:rPr lang="en-US" sz="1600" dirty="0">
                <a:solidFill>
                  <a:srgbClr val="0070C0"/>
                </a:solidFill>
              </a:rPr>
              <a:t>5/9</a:t>
            </a:r>
            <a:r>
              <a:rPr lang="en-US" sz="1600" b="0" dirty="0">
                <a:solidFill>
                  <a:srgbClr val="0070C0"/>
                </a:solidFill>
              </a:rPr>
              <a:t>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5/10  0.0072 </a:t>
            </a:r>
            <a:endParaRPr lang="en-US" sz="1600" b="0" dirty="0">
              <a:solidFill>
                <a:srgbClr val="FF0000"/>
              </a:solidFill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X|Class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=Yes) = P(Refund=No|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P(Income=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120K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	               = 4/5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1/6  1.2  10</a:t>
            </a:r>
            <a:r>
              <a:rPr lang="en-US" sz="1600" b="0" baseline="30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-9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 </a:t>
            </a:r>
            <a:endParaRPr lang="en-US" sz="1600" b="0" dirty="0">
              <a:solidFill>
                <a:srgbClr val="FF0000"/>
              </a:solidFill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>
                <a:solidFill>
                  <a:srgbClr val="0070C0"/>
                </a:solidFill>
              </a:rPr>
              <a:t>P(No) = 0.7</a:t>
            </a:r>
            <a:r>
              <a:rPr lang="en-US" sz="1800" b="0" dirty="0"/>
              <a:t>,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P(Yes) = 0.3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Since P(</a:t>
            </a:r>
            <a:r>
              <a:rPr lang="en-US" sz="1800" b="0" dirty="0" err="1"/>
              <a:t>X|No</a:t>
            </a:r>
            <a:r>
              <a:rPr lang="en-US" sz="1800" b="0" dirty="0"/>
              <a:t>)P(No) &gt; P(</a:t>
            </a:r>
            <a:r>
              <a:rPr lang="en-US" sz="1800" b="0" dirty="0" err="1"/>
              <a:t>X|Yes</a:t>
            </a:r>
            <a:r>
              <a:rPr lang="en-US" sz="1800" b="0" dirty="0"/>
              <a:t>)P(Yes)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Therefore P(</a:t>
            </a:r>
            <a:r>
              <a:rPr lang="en-US" sz="1800" b="0" dirty="0" err="1"/>
              <a:t>No|X</a:t>
            </a:r>
            <a:r>
              <a:rPr lang="en-US" sz="1800" b="0" dirty="0"/>
              <a:t>) &gt; P(</a:t>
            </a:r>
            <a:r>
              <a:rPr lang="en-US" sz="1800" b="0" dirty="0" err="1"/>
              <a:t>Yes|X</a:t>
            </a:r>
            <a:r>
              <a:rPr lang="en-US" sz="1800" b="0" dirty="0"/>
              <a:t>)</a:t>
            </a:r>
            <a:br>
              <a:rPr lang="en-US" sz="1800" b="0" dirty="0"/>
            </a:br>
            <a:r>
              <a:rPr lang="en-US" sz="1800" b="0" dirty="0"/>
              <a:t>      </a:t>
            </a:r>
            <a:r>
              <a:rPr lang="en-US" sz="2000" b="0" dirty="0">
                <a:sym typeface="Symbol" pitchFamily="18" charset="2"/>
              </a:rPr>
              <a:t>=&gt; </a:t>
            </a:r>
            <a:r>
              <a:rPr lang="en-US" sz="2000" b="0" dirty="0">
                <a:solidFill>
                  <a:srgbClr val="FF0000"/>
                </a:solidFill>
                <a:sym typeface="Symbol" pitchFamily="18" charset="2"/>
              </a:rPr>
              <a:t>Class = No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228600" y="14478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68174" y="1433513"/>
            <a:ext cx="2685351" cy="36933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With Laplace Smoothing</a:t>
            </a:r>
          </a:p>
        </p:txBody>
      </p:sp>
    </p:spTree>
    <p:extLst>
      <p:ext uri="{BB962C8B-B14F-4D97-AF65-F5344CB8AC3E}">
        <p14:creationId xmlns:p14="http://schemas.microsoft.com/office/powerpoint/2010/main" val="13024390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Computing the conditional probabilities involves multiplication of many very small numbers </a:t>
                </a:r>
              </a:p>
              <a:p>
                <a:pPr lvl="1"/>
                <a:r>
                  <a:rPr lang="en-US" dirty="0"/>
                  <a:t>Numbers get very close to zero, and there is a danger of numeric instability</a:t>
                </a:r>
              </a:p>
              <a:p>
                <a:r>
                  <a:rPr lang="en-US" dirty="0"/>
                  <a:t>We can deal with this by computing the </a:t>
                </a:r>
                <a:r>
                  <a:rPr lang="en-US" dirty="0">
                    <a:solidFill>
                      <a:srgbClr val="FF0000"/>
                    </a:solidFill>
                  </a:rPr>
                  <a:t>logarithm</a:t>
                </a:r>
                <a:r>
                  <a:rPr lang="en-US" dirty="0"/>
                  <a:t> of the conditional probability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~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2897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for Text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Naïve Bayes is commonly used for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text classification</a:t>
                </a:r>
              </a:p>
              <a:p>
                <a:r>
                  <a:rPr lang="en-US" dirty="0"/>
                  <a:t>For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latin typeface="Cambria Math"/>
                        </a:rPr>
                        <m:t>𝑐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|</m:t>
                          </m:r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= Fraction of terms from </a:t>
                </a:r>
                <a:r>
                  <a:rPr lang="en-US" dirty="0">
                    <a:solidFill>
                      <a:srgbClr val="0070C0"/>
                    </a:solidFill>
                  </a:rPr>
                  <a:t>all documents </a:t>
                </a:r>
                <a:r>
                  <a:rPr lang="en-US" dirty="0"/>
                  <a:t>in c that are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Easy to implement and works relatively well</a:t>
                </a:r>
              </a:p>
              <a:p>
                <a:r>
                  <a:rPr lang="en-US" dirty="0"/>
                  <a:t>Limitation: Hard to incorporate additional features (beyond words).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7017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43" y="457200"/>
            <a:ext cx="7496175" cy="62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0718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 (Summary)</a:t>
            </a:r>
          </a:p>
        </p:txBody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Robust to isolated noise points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Handle missing values by ignoring the instance during probability estimate calculations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Robust to irrelevant attributes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Independence assumption may not hold for some attributes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Use other techniques such as Bayesian Belief Networks (BBN)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Naïve Bayes can produce a probability estimate, but it is usually a very biased one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Logistic Regression is better for obtaining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28466811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</a:t>
            </a:r>
            <a:r>
              <a:rPr lang="en-US" dirty="0" err="1"/>
              <a:t>vs</a:t>
            </a:r>
            <a:r>
              <a:rPr lang="en-US" dirty="0"/>
              <a:t> Discriminative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Naïve Bayes is a type of a </a:t>
            </a:r>
            <a:r>
              <a:rPr lang="en-US" dirty="0">
                <a:solidFill>
                  <a:srgbClr val="FF0000"/>
                </a:solidFill>
              </a:rPr>
              <a:t>generative model</a:t>
            </a:r>
          </a:p>
          <a:p>
            <a:pPr lvl="1"/>
            <a:r>
              <a:rPr lang="en-US" dirty="0"/>
              <a:t>Generative process: </a:t>
            </a:r>
          </a:p>
          <a:p>
            <a:pPr lvl="2"/>
            <a:r>
              <a:rPr lang="en-US" dirty="0"/>
              <a:t>First pick the category of the record</a:t>
            </a:r>
          </a:p>
          <a:p>
            <a:pPr lvl="2"/>
            <a:r>
              <a:rPr lang="en-US" dirty="0"/>
              <a:t>Then given the category, generate the attribute values from the distribution of the category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Conditional independence given 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use the training data to learn the distribution of the values in a class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629400" y="3733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6" name="Straight Arrow Connector 5"/>
          <p:cNvCxnSpPr>
            <a:stCxn id="4" idx="4"/>
            <a:endCxn id="7" idx="0"/>
          </p:cNvCxnSpPr>
          <p:nvPr/>
        </p:nvCxnSpPr>
        <p:spPr>
          <a:xfrm flipH="1">
            <a:off x="5867400" y="4267200"/>
            <a:ext cx="1028700" cy="4789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5600700" y="4746172"/>
                <a:ext cx="533400" cy="53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4746172"/>
                <a:ext cx="533400" cy="533400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6370864" y="4757058"/>
                <a:ext cx="533400" cy="53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864" y="4757058"/>
                <a:ext cx="533400" cy="5334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7696200" y="4735286"/>
                <a:ext cx="533400" cy="53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4735286"/>
                <a:ext cx="533400" cy="5334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4" idx="4"/>
            <a:endCxn id="9" idx="0"/>
          </p:cNvCxnSpPr>
          <p:nvPr/>
        </p:nvCxnSpPr>
        <p:spPr>
          <a:xfrm flipH="1">
            <a:off x="6637564" y="4267200"/>
            <a:ext cx="258536" cy="489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0" idx="0"/>
          </p:cNvCxnSpPr>
          <p:nvPr/>
        </p:nvCxnSpPr>
        <p:spPr>
          <a:xfrm>
            <a:off x="6896100" y="4267200"/>
            <a:ext cx="1066800" cy="468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2802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</a:t>
            </a:r>
            <a:r>
              <a:rPr lang="en-US" dirty="0" err="1"/>
              <a:t>vs</a:t>
            </a:r>
            <a:r>
              <a:rPr lang="en-US" dirty="0"/>
              <a:t> Discriminative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and SVM are </a:t>
            </a:r>
            <a:r>
              <a:rPr lang="en-US" dirty="0">
                <a:solidFill>
                  <a:srgbClr val="FF0000"/>
                </a:solidFill>
              </a:rPr>
              <a:t>discriminative models</a:t>
            </a:r>
          </a:p>
          <a:p>
            <a:pPr lvl="1"/>
            <a:r>
              <a:rPr lang="en-US" dirty="0"/>
              <a:t>The goal is to find the boundary that discriminates between the two classes from the training data</a:t>
            </a:r>
          </a:p>
          <a:p>
            <a:endParaRPr lang="en-US" dirty="0"/>
          </a:p>
          <a:p>
            <a:r>
              <a:rPr lang="en-US" dirty="0"/>
              <a:t>In order to classify the language of a document, you can </a:t>
            </a:r>
          </a:p>
          <a:p>
            <a:pPr lvl="1"/>
            <a:r>
              <a:rPr lang="en-US" dirty="0"/>
              <a:t>Either learn the two languages and find which is more likely to have generated the words you see</a:t>
            </a:r>
          </a:p>
          <a:p>
            <a:pPr lvl="1"/>
            <a:r>
              <a:rPr lang="en-US" dirty="0"/>
              <a:t>Or learn what differentiates the two languages.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1081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LAB3</a:t>
            </a: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anose="02020500000000000000" pitchFamily="18" charset="-120"/>
              </a:rPr>
              <a:t>使用</a:t>
            </a:r>
            <a:r>
              <a:rPr lang="en-US" altLang="zh-TW" dirty="0" err="1">
                <a:ea typeface="新細明體" panose="02020500000000000000" pitchFamily="18" charset="-120"/>
              </a:rPr>
              <a:t>Tensorflow</a:t>
            </a:r>
            <a:r>
              <a:rPr lang="zh-TW" altLang="en-US" dirty="0">
                <a:ea typeface="新細明體" panose="02020500000000000000" pitchFamily="18" charset="-120"/>
              </a:rPr>
              <a:t>執行樹狀分類器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sz="2400" dirty="0">
                <a:ea typeface="新細明體" panose="02020500000000000000" pitchFamily="18" charset="-120"/>
              </a:rPr>
              <a:t>在這個實驗中，我們實作使用</a:t>
            </a:r>
            <a:r>
              <a:rPr lang="en-US" altLang="zh-TW" sz="2400" dirty="0">
                <a:ea typeface="新細明體" panose="02020500000000000000" pitchFamily="18" charset="-120"/>
              </a:rPr>
              <a:t>Google </a:t>
            </a:r>
            <a:r>
              <a:rPr lang="en-US" altLang="zh-TW" sz="2400" dirty="0" err="1">
                <a:ea typeface="新細明體" panose="02020500000000000000" pitchFamily="18" charset="-120"/>
              </a:rPr>
              <a:t>Colab</a:t>
            </a:r>
            <a:r>
              <a:rPr lang="zh-TW" altLang="en-US" sz="2400" dirty="0">
                <a:ea typeface="新細明體" panose="02020500000000000000" pitchFamily="18" charset="-120"/>
              </a:rPr>
              <a:t>，從</a:t>
            </a:r>
            <a:r>
              <a:rPr lang="en-US" altLang="zh-TW" sz="2400" dirty="0" err="1">
                <a:ea typeface="新細明體" panose="02020500000000000000" pitchFamily="18" charset="-120"/>
              </a:rPr>
              <a:t>kaggle</a:t>
            </a:r>
            <a:r>
              <a:rPr lang="zh-TW" altLang="en-US" sz="2400" dirty="0">
                <a:ea typeface="新細明體" panose="02020500000000000000" pitchFamily="18" charset="-120"/>
              </a:rPr>
              <a:t>中下載</a:t>
            </a:r>
            <a:r>
              <a:rPr lang="en-US" altLang="zh-TW" sz="2400" dirty="0">
                <a:ea typeface="新細明體" panose="02020500000000000000" pitchFamily="18" charset="-120"/>
              </a:rPr>
              <a:t>Dataset: </a:t>
            </a:r>
            <a:r>
              <a:rPr lang="en-US" altLang="zh-TW" dirty="0"/>
              <a:t>heart-disease-uci.zip</a:t>
            </a:r>
            <a:r>
              <a:rPr lang="zh-TW" altLang="en-US" dirty="0"/>
              <a:t>，並利用這個資料集進行以下的樹狀分類器研究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 err="1"/>
              <a:t>RandomForestClassifier</a:t>
            </a:r>
            <a:endParaRPr lang="en-US" altLang="zh-TW" dirty="0"/>
          </a:p>
          <a:p>
            <a:pPr lvl="1"/>
            <a:r>
              <a:rPr lang="en-US" altLang="zh-TW" dirty="0" err="1"/>
              <a:t>DecisionTreeClassifier</a:t>
            </a:r>
            <a:endParaRPr lang="en-US" altLang="zh-TW" dirty="0"/>
          </a:p>
          <a:p>
            <a:pPr lvl="1"/>
            <a:r>
              <a:rPr lang="en-US" altLang="zh-TW" dirty="0" err="1"/>
              <a:t>BoostedTreesClassifier</a:t>
            </a:r>
            <a:endParaRPr lang="en-US" altLang="zh-TW" dirty="0"/>
          </a:p>
          <a:p>
            <a:pPr lvl="1"/>
            <a:endParaRPr lang="en-US" altLang="zh-TW" sz="2000" dirty="0">
              <a:ea typeface="新細明體" panose="02020500000000000000" pitchFamily="18" charset="-120"/>
            </a:endParaRPr>
          </a:p>
          <a:p>
            <a:r>
              <a:rPr lang="zh-TW" altLang="en-US" dirty="0"/>
              <a:t>樹狀分類器有許多特點</a:t>
            </a:r>
            <a:endParaRPr lang="en-US" altLang="zh-TW" dirty="0"/>
          </a:p>
          <a:p>
            <a:pPr lvl="1"/>
            <a:r>
              <a:rPr lang="zh-TW" altLang="en-US" dirty="0"/>
              <a:t>非常適合結構化資料的分類或迴歸問題。</a:t>
            </a:r>
          </a:p>
          <a:p>
            <a:pPr lvl="1"/>
            <a:r>
              <a:rPr lang="zh-TW" altLang="en-US" dirty="0"/>
              <a:t>通常也具備良好的解釋決策理由的能力。</a:t>
            </a:r>
          </a:p>
          <a:p>
            <a:pPr lvl="1"/>
            <a:r>
              <a:rPr lang="zh-TW" altLang="en-US" dirty="0"/>
              <a:t>理論上，樹狀分類器可以應付混合數值型屬性與類別型屬性的資料。</a:t>
            </a:r>
          </a:p>
          <a:p>
            <a:pPr lvl="2"/>
            <a:r>
              <a:rPr lang="zh-TW" altLang="en-US" dirty="0"/>
              <a:t>但有時候為了更有效的資料表示或是單純只是遷就演算法，會將資料屬性轉換成另一種表示方式。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19533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LAB3</a:t>
            </a: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anose="02020500000000000000" pitchFamily="18" charset="-120"/>
              </a:rPr>
              <a:t>使用</a:t>
            </a:r>
            <a:r>
              <a:rPr lang="en-US" altLang="zh-TW" dirty="0" err="1">
                <a:ea typeface="新細明體" panose="02020500000000000000" pitchFamily="18" charset="-120"/>
              </a:rPr>
              <a:t>Colab</a:t>
            </a:r>
            <a:r>
              <a:rPr lang="zh-TW" altLang="en-US" dirty="0">
                <a:ea typeface="新細明體" panose="02020500000000000000" pitchFamily="18" charset="-120"/>
              </a:rPr>
              <a:t>執行樹狀分類器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ea typeface="新細明體" panose="02020500000000000000" pitchFamily="18" charset="-120"/>
              </a:rPr>
              <a:t>實驗步驟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zh-TW" altLang="en-US" dirty="0">
                <a:ea typeface="新細明體" panose="02020500000000000000" pitchFamily="18" charset="-120"/>
              </a:rPr>
              <a:t>建置樹狀分類器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  <a:r>
              <a:rPr lang="en-US" altLang="zh-TW" dirty="0" err="1">
                <a:ea typeface="新細明體" panose="02020500000000000000" pitchFamily="18" charset="-120"/>
              </a:rPr>
              <a:t>ipynb</a:t>
            </a:r>
            <a:r>
              <a:rPr lang="zh-TW" altLang="en-US">
                <a:ea typeface="新細明體" panose="02020500000000000000" pitchFamily="18" charset="-120"/>
              </a:rPr>
              <a:t>並載入</a:t>
            </a:r>
            <a:r>
              <a:rPr lang="zh-TW" altLang="en-US" dirty="0">
                <a:ea typeface="新細明體" panose="02020500000000000000" pitchFamily="18" charset="-120"/>
              </a:rPr>
              <a:t>到您的</a:t>
            </a:r>
            <a:r>
              <a:rPr lang="en-US" altLang="zh-TW" dirty="0">
                <a:ea typeface="新細明體" panose="02020500000000000000" pitchFamily="18" charset="-120"/>
              </a:rPr>
              <a:t>Google </a:t>
            </a:r>
            <a:r>
              <a:rPr lang="en-US" altLang="zh-TW" dirty="0" err="1">
                <a:ea typeface="新細明體" panose="02020500000000000000" pitchFamily="18" charset="-120"/>
              </a:rPr>
              <a:t>Colab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zh-TW" altLang="en-US" dirty="0">
                <a:ea typeface="新細明體" panose="02020500000000000000" pitchFamily="18" charset="-120"/>
              </a:rPr>
              <a:t>到</a:t>
            </a:r>
            <a:r>
              <a:rPr lang="en-US" altLang="zh-TW" dirty="0" err="1">
                <a:ea typeface="新細明體" panose="02020500000000000000" pitchFamily="18" charset="-120"/>
              </a:rPr>
              <a:t>kaggle</a:t>
            </a:r>
            <a:r>
              <a:rPr lang="zh-TW" altLang="en-US" dirty="0">
                <a:ea typeface="新細明體" panose="02020500000000000000" pitchFamily="18" charset="-120"/>
              </a:rPr>
              <a:t>註冊帳號</a:t>
            </a:r>
            <a:r>
              <a:rPr lang="en-US" altLang="zh-TW" sz="2200" dirty="0">
                <a:ea typeface="新細明體" panose="02020500000000000000" pitchFamily="18" charset="-120"/>
                <a:hlinkClick r:id="rId2"/>
              </a:rPr>
              <a:t>https://www.kaggle.com/</a:t>
            </a:r>
            <a:endParaRPr lang="en-US" altLang="zh-TW" sz="2200" dirty="0">
              <a:ea typeface="新細明體" panose="02020500000000000000" pitchFamily="18" charset="-120"/>
            </a:endParaRP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zh-TW" altLang="en-US" sz="2200" dirty="0">
                <a:ea typeface="新細明體" panose="02020500000000000000" pitchFamily="18" charset="-120"/>
              </a:rPr>
              <a:t>利用您的帳號取得</a:t>
            </a:r>
            <a:r>
              <a:rPr lang="en-US" altLang="zh-TW" dirty="0"/>
              <a:t>Create New API Token</a:t>
            </a:r>
            <a:r>
              <a:rPr lang="zh-TW" altLang="en-US" dirty="0"/>
              <a:t>，可下載</a:t>
            </a:r>
            <a:r>
              <a:rPr lang="en-US" altLang="zh-TW" dirty="0" err="1"/>
              <a:t>kaggle.json</a:t>
            </a:r>
            <a:r>
              <a:rPr lang="zh-TW" altLang="en-US" dirty="0"/>
              <a:t>到您的機器</a:t>
            </a:r>
            <a:endParaRPr lang="en-US" altLang="zh-TW" sz="2200" dirty="0">
              <a:ea typeface="新細明體" panose="02020500000000000000" pitchFamily="18" charset="-120"/>
            </a:endParaRP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zh-TW" altLang="en-US" dirty="0">
                <a:ea typeface="新細明體" panose="02020500000000000000" pitchFamily="18" charset="-120"/>
              </a:rPr>
              <a:t>研讀範例程式為例，練習樹狀分類器訓練，並利用</a:t>
            </a:r>
            <a:r>
              <a:rPr lang="en-US" altLang="zh-TW" dirty="0">
                <a:ea typeface="新細明體" panose="02020500000000000000" pitchFamily="18" charset="-120"/>
              </a:rPr>
              <a:t>Pandas </a:t>
            </a:r>
            <a:r>
              <a:rPr lang="zh-TW" altLang="en-US" dirty="0">
                <a:ea typeface="新細明體" panose="02020500000000000000" pitchFamily="18" charset="-120"/>
              </a:rPr>
              <a:t>語法分析各種樹狀分類器的效果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zh-TW" altLang="en-US" dirty="0">
                <a:ea typeface="新細明體" panose="02020500000000000000" pitchFamily="18" charset="-120"/>
              </a:rPr>
              <a:t>撰寫實驗報告並上傳</a:t>
            </a:r>
            <a:r>
              <a:rPr lang="en-US" altLang="zh-TW" dirty="0" err="1">
                <a:ea typeface="新細明體" panose="02020500000000000000" pitchFamily="18" charset="-120"/>
              </a:rPr>
              <a:t>Tronclass</a:t>
            </a:r>
            <a:r>
              <a:rPr lang="zh-TW" altLang="en-US" dirty="0">
                <a:ea typeface="新細明體" panose="02020500000000000000" pitchFamily="18" charset="-120"/>
              </a:rPr>
              <a:t>，繳交作業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b="1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16580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048000" y="3505200"/>
            <a:ext cx="3078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/>
              <a:t>Any Questions?</a:t>
            </a:r>
            <a:endParaRPr lang="zh-TW" alt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2948368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14917</TotalTime>
  <Words>2945</Words>
  <Application>Microsoft Office PowerPoint</Application>
  <PresentationFormat>如螢幕大小 (4:3)</PresentationFormat>
  <Paragraphs>426</Paragraphs>
  <Slides>67</Slides>
  <Notes>9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4</vt:i4>
      </vt:variant>
      <vt:variant>
        <vt:lpstr>投影片標題</vt:lpstr>
      </vt:variant>
      <vt:variant>
        <vt:i4>67</vt:i4>
      </vt:variant>
    </vt:vector>
  </HeadingPairs>
  <TitlesOfParts>
    <vt:vector size="81" baseType="lpstr">
      <vt:lpstr>Monotype Sorts</vt:lpstr>
      <vt:lpstr>標楷體</vt:lpstr>
      <vt:lpstr>Arial</vt:lpstr>
      <vt:lpstr>Arial Black</vt:lpstr>
      <vt:lpstr>Calibri</vt:lpstr>
      <vt:lpstr>Cambria Math</vt:lpstr>
      <vt:lpstr>Tahoma</vt:lpstr>
      <vt:lpstr>Times New Roman</vt:lpstr>
      <vt:lpstr>Wingdings</vt:lpstr>
      <vt:lpstr>Clarity</vt:lpstr>
      <vt:lpstr>Visio</vt:lpstr>
      <vt:lpstr>VISIO</vt:lpstr>
      <vt:lpstr>Equation</vt:lpstr>
      <vt:lpstr>Εξίσωση</vt:lpstr>
      <vt:lpstr>PowerPoint 簡報</vt:lpstr>
      <vt:lpstr>章節目錄</vt:lpstr>
      <vt:lpstr>監督式學習</vt:lpstr>
      <vt:lpstr>NEAREST NEIGHBOR CLASSIFICATION</vt:lpstr>
      <vt:lpstr>Illustrating Classification Task</vt:lpstr>
      <vt:lpstr>Instance-Based Classifiers</vt:lpstr>
      <vt:lpstr>Instance Based Classifiers</vt:lpstr>
      <vt:lpstr>Nearest Neighbor Classifiers</vt:lpstr>
      <vt:lpstr>Nearest-Neighbor Classifiers</vt:lpstr>
      <vt:lpstr>Definition of Nearest Neighbor</vt:lpstr>
      <vt:lpstr>1 nearest-neighbor</vt:lpstr>
      <vt:lpstr>Nearest Neighbor Classification</vt:lpstr>
      <vt:lpstr>Nearest Neighbor Classification…</vt:lpstr>
      <vt:lpstr>Nearest Neighbor Classification…</vt:lpstr>
      <vt:lpstr>Nearest Neighbor Classification…</vt:lpstr>
      <vt:lpstr>Nearest neighbor Classification…</vt:lpstr>
      <vt:lpstr>Nearest Neighbor Search</vt:lpstr>
      <vt:lpstr>Nearest Neighbor Search</vt:lpstr>
      <vt:lpstr>Nearest Neighbor Search</vt:lpstr>
      <vt:lpstr>Nearest Neighbor Search</vt:lpstr>
      <vt:lpstr>Nearest Neighbor Search</vt:lpstr>
      <vt:lpstr>Nearest Neighbor Search</vt:lpstr>
      <vt:lpstr>Nearest Neighbor Search</vt:lpstr>
      <vt:lpstr>Nearest Neighbor Search</vt:lpstr>
      <vt:lpstr>Nearest Neighbor Search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Nonlinear Support Vector Machines</vt:lpstr>
      <vt:lpstr>Nonlinear Support Vector Machines</vt:lpstr>
      <vt:lpstr>LOGISTIC REGRESSION</vt:lpstr>
      <vt:lpstr>Classification via regression</vt:lpstr>
      <vt:lpstr>Example: Linear regression</vt:lpstr>
      <vt:lpstr>Classification via regression</vt:lpstr>
      <vt:lpstr>Logistic Regression</vt:lpstr>
      <vt:lpstr>Logistic Regression</vt:lpstr>
      <vt:lpstr>NAÏVE BAYES CLASSIFIER</vt:lpstr>
      <vt:lpstr>Bayes Classifier</vt:lpstr>
      <vt:lpstr>Bayesian Classifiers</vt:lpstr>
      <vt:lpstr>Bayesian Classifiers</vt:lpstr>
      <vt:lpstr>Bayesian Classifiers</vt:lpstr>
      <vt:lpstr>Naïve Bayes Classifier</vt:lpstr>
      <vt:lpstr>How to Estimate Probabilities from Data?</vt:lpstr>
      <vt:lpstr>How to Estimate Probabilities from Data?</vt:lpstr>
      <vt:lpstr>How to Estimate Probabilities from Data?</vt:lpstr>
      <vt:lpstr>Example of Naïve Bayes Classifier</vt:lpstr>
      <vt:lpstr>Example of Naïve Bayes Classifier</vt:lpstr>
      <vt:lpstr>Naïve Bayes Classifier</vt:lpstr>
      <vt:lpstr>Example of Naïve Bayes Classifier</vt:lpstr>
      <vt:lpstr>Implementation details</vt:lpstr>
      <vt:lpstr>Naïve Bayes for Text Classification</vt:lpstr>
      <vt:lpstr>PowerPoint 簡報</vt:lpstr>
      <vt:lpstr>Naïve Bayes (Summary)</vt:lpstr>
      <vt:lpstr>Generative vs Discriminative models</vt:lpstr>
      <vt:lpstr>Generative vs Discriminative models</vt:lpstr>
      <vt:lpstr>LAB3使用Tensorflow執行樹狀分類器</vt:lpstr>
      <vt:lpstr>LAB3使用Colab執行樹狀分類器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tsap</dc:creator>
  <cp:lastModifiedBy>鄭錫齊</cp:lastModifiedBy>
  <cp:revision>532</cp:revision>
  <dcterms:created xsi:type="dcterms:W3CDTF">2011-10-17T19:46:53Z</dcterms:created>
  <dcterms:modified xsi:type="dcterms:W3CDTF">2026-04-01T00:12:19Z</dcterms:modified>
</cp:coreProperties>
</file>